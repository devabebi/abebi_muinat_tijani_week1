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66" r:id="rId5"/>
    <p:sldId id="260" r:id="rId6"/>
    <p:sldId id="267" r:id="rId7"/>
    <p:sldId id="262" r:id="rId8"/>
    <p:sldId id="263" r:id="rId9"/>
    <p:sldId id="264" r:id="rId10"/>
    <p:sldId id="265" r:id="rId11"/>
  </p:sldIdLst>
  <p:sldSz cx="18288000" cy="10287000"/>
  <p:notesSz cx="6858000" cy="9144000"/>
  <p:embeddedFontLst>
    <p:embeddedFont>
      <p:font typeface="Canva Sans" panose="020B0604020202020204" charset="0"/>
      <p:regular r:id="rId12"/>
    </p:embeddedFont>
    <p:embeddedFont>
      <p:font typeface="Gotham Bold" panose="020B0604020202020204" charset="0"/>
      <p:regular r:id="rId13"/>
    </p:embeddedFont>
    <p:embeddedFont>
      <p:font typeface="Gotham Heavy" panose="020B0604020202020204" charset="0"/>
      <p:regular r:id="rId14"/>
    </p:embeddedFont>
    <p:embeddedFont>
      <p:font typeface="Inter" panose="020B0604020202020204" charset="0"/>
      <p:regular r:id="rId15"/>
      <p:bold r:id="rId16"/>
      <p:boldItalic r:id="rId17"/>
    </p:embeddedFont>
    <p:embeddedFont>
      <p:font typeface="Inter Bold"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E05BE31-539A-4ED2-8BCA-A6E8A7AE2CE6}" v="48" dt="2025-12-13T19:17:20.2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3" d="100"/>
          <a:sy n="43" d="100"/>
        </p:scale>
        <p:origin x="740" y="2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font" Target="fonts/font4.fntdata"/><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inat Tijani" userId="200c91c32dcecd70" providerId="LiveId" clId="{64531718-0F78-43B7-8241-660AE8910F53}"/>
    <pc:docChg chg="undo custSel addSld delSld modSld">
      <pc:chgData name="Muinat Tijani" userId="200c91c32dcecd70" providerId="LiveId" clId="{64531718-0F78-43B7-8241-660AE8910F53}" dt="2025-12-13T19:17:39.151" v="1204" actId="20577"/>
      <pc:docMkLst>
        <pc:docMk/>
      </pc:docMkLst>
      <pc:sldChg chg="modSp mod">
        <pc:chgData name="Muinat Tijani" userId="200c91c32dcecd70" providerId="LiveId" clId="{64531718-0F78-43B7-8241-660AE8910F53}" dt="2025-12-12T14:10:04.085" v="582" actId="1036"/>
        <pc:sldMkLst>
          <pc:docMk/>
          <pc:sldMk cId="0" sldId="256"/>
        </pc:sldMkLst>
        <pc:spChg chg="mod">
          <ac:chgData name="Muinat Tijani" userId="200c91c32dcecd70" providerId="LiveId" clId="{64531718-0F78-43B7-8241-660AE8910F53}" dt="2025-12-12T14:10:04.085" v="582" actId="1036"/>
          <ac:spMkLst>
            <pc:docMk/>
            <pc:sldMk cId="0" sldId="256"/>
            <ac:spMk id="2" creationId="{00000000-0000-0000-0000-000000000000}"/>
          </ac:spMkLst>
        </pc:spChg>
        <pc:spChg chg="mod">
          <ac:chgData name="Muinat Tijani" userId="200c91c32dcecd70" providerId="LiveId" clId="{64531718-0F78-43B7-8241-660AE8910F53}" dt="2025-12-12T14:09:58.826" v="581" actId="20577"/>
          <ac:spMkLst>
            <pc:docMk/>
            <pc:sldMk cId="0" sldId="256"/>
            <ac:spMk id="16" creationId="{00000000-0000-0000-0000-000000000000}"/>
          </ac:spMkLst>
        </pc:spChg>
      </pc:sldChg>
      <pc:sldChg chg="delSp modSp mod">
        <pc:chgData name="Muinat Tijani" userId="200c91c32dcecd70" providerId="LiveId" clId="{64531718-0F78-43B7-8241-660AE8910F53}" dt="2025-12-12T18:37:01.230" v="1181" actId="20577"/>
        <pc:sldMkLst>
          <pc:docMk/>
          <pc:sldMk cId="0" sldId="257"/>
        </pc:sldMkLst>
        <pc:spChg chg="mod">
          <ac:chgData name="Muinat Tijani" userId="200c91c32dcecd70" providerId="LiveId" clId="{64531718-0F78-43B7-8241-660AE8910F53}" dt="2025-12-08T07:05:42.622" v="94" actId="14100"/>
          <ac:spMkLst>
            <pc:docMk/>
            <pc:sldMk cId="0" sldId="257"/>
            <ac:spMk id="2" creationId="{00000000-0000-0000-0000-000000000000}"/>
          </ac:spMkLst>
        </pc:spChg>
        <pc:spChg chg="mod">
          <ac:chgData name="Muinat Tijani" userId="200c91c32dcecd70" providerId="LiveId" clId="{64531718-0F78-43B7-8241-660AE8910F53}" dt="2025-12-08T07:05:47.825" v="95" actId="14100"/>
          <ac:spMkLst>
            <pc:docMk/>
            <pc:sldMk cId="0" sldId="257"/>
            <ac:spMk id="3" creationId="{00000000-0000-0000-0000-000000000000}"/>
          </ac:spMkLst>
        </pc:spChg>
        <pc:spChg chg="mod">
          <ac:chgData name="Muinat Tijani" userId="200c91c32dcecd70" providerId="LiveId" clId="{64531718-0F78-43B7-8241-660AE8910F53}" dt="2025-12-10T06:12:11.275" v="562" actId="1076"/>
          <ac:spMkLst>
            <pc:docMk/>
            <pc:sldMk cId="0" sldId="257"/>
            <ac:spMk id="15" creationId="{00000000-0000-0000-0000-000000000000}"/>
          </ac:spMkLst>
        </pc:spChg>
        <pc:spChg chg="mod">
          <ac:chgData name="Muinat Tijani" userId="200c91c32dcecd70" providerId="LiveId" clId="{64531718-0F78-43B7-8241-660AE8910F53}" dt="2025-12-12T18:37:01.230" v="1181" actId="20577"/>
          <ac:spMkLst>
            <pc:docMk/>
            <pc:sldMk cId="0" sldId="257"/>
            <ac:spMk id="20" creationId="{00000000-0000-0000-0000-000000000000}"/>
          </ac:spMkLst>
        </pc:spChg>
      </pc:sldChg>
      <pc:sldChg chg="delSp modSp mod">
        <pc:chgData name="Muinat Tijani" userId="200c91c32dcecd70" providerId="LiveId" clId="{64531718-0F78-43B7-8241-660AE8910F53}" dt="2025-12-12T18:36:32.719" v="1179" actId="20577"/>
        <pc:sldMkLst>
          <pc:docMk/>
          <pc:sldMk cId="0" sldId="258"/>
        </pc:sldMkLst>
        <pc:spChg chg="mod">
          <ac:chgData name="Muinat Tijani" userId="200c91c32dcecd70" providerId="LiveId" clId="{64531718-0F78-43B7-8241-660AE8910F53}" dt="2025-12-12T18:30:34.204" v="1162" actId="1076"/>
          <ac:spMkLst>
            <pc:docMk/>
            <pc:sldMk cId="0" sldId="258"/>
            <ac:spMk id="15" creationId="{00000000-0000-0000-0000-000000000000}"/>
          </ac:spMkLst>
        </pc:spChg>
        <pc:spChg chg="mod">
          <ac:chgData name="Muinat Tijani" userId="200c91c32dcecd70" providerId="LiveId" clId="{64531718-0F78-43B7-8241-660AE8910F53}" dt="2025-12-12T18:36:32.719" v="1179" actId="20577"/>
          <ac:spMkLst>
            <pc:docMk/>
            <pc:sldMk cId="0" sldId="258"/>
            <ac:spMk id="19" creationId="{00000000-0000-0000-0000-000000000000}"/>
          </ac:spMkLst>
        </pc:spChg>
        <pc:spChg chg="mod">
          <ac:chgData name="Muinat Tijani" userId="200c91c32dcecd70" providerId="LiveId" clId="{64531718-0F78-43B7-8241-660AE8910F53}" dt="2025-12-08T07:01:21.082" v="66" actId="20577"/>
          <ac:spMkLst>
            <pc:docMk/>
            <pc:sldMk cId="0" sldId="258"/>
            <ac:spMk id="22" creationId="{00000000-0000-0000-0000-000000000000}"/>
          </ac:spMkLst>
        </pc:spChg>
        <pc:grpChg chg="mod">
          <ac:chgData name="Muinat Tijani" userId="200c91c32dcecd70" providerId="LiveId" clId="{64531718-0F78-43B7-8241-660AE8910F53}" dt="2025-12-12T18:30:51.888" v="1165" actId="1076"/>
          <ac:grpSpMkLst>
            <pc:docMk/>
            <pc:sldMk cId="0" sldId="258"/>
            <ac:grpSpMk id="3" creationId="{00000000-0000-0000-0000-000000000000}"/>
          </ac:grpSpMkLst>
        </pc:grpChg>
      </pc:sldChg>
      <pc:sldChg chg="addSp delSp modSp mod">
        <pc:chgData name="Muinat Tijani" userId="200c91c32dcecd70" providerId="LiveId" clId="{64531718-0F78-43B7-8241-660AE8910F53}" dt="2025-12-12T17:53:52.843" v="935" actId="1035"/>
        <pc:sldMkLst>
          <pc:docMk/>
          <pc:sldMk cId="0" sldId="260"/>
        </pc:sldMkLst>
        <pc:spChg chg="mod">
          <ac:chgData name="Muinat Tijani" userId="200c91c32dcecd70" providerId="LiveId" clId="{64531718-0F78-43B7-8241-660AE8910F53}" dt="2025-12-12T14:58:19.733" v="584" actId="1076"/>
          <ac:spMkLst>
            <pc:docMk/>
            <pc:sldMk cId="0" sldId="260"/>
            <ac:spMk id="2" creationId="{00000000-0000-0000-0000-000000000000}"/>
          </ac:spMkLst>
        </pc:spChg>
        <pc:spChg chg="add mod">
          <ac:chgData name="Muinat Tijani" userId="200c91c32dcecd70" providerId="LiveId" clId="{64531718-0F78-43B7-8241-660AE8910F53}" dt="2025-12-12T17:53:52.843" v="935" actId="1035"/>
          <ac:spMkLst>
            <pc:docMk/>
            <pc:sldMk cId="0" sldId="260"/>
            <ac:spMk id="4" creationId="{03EF7A89-96EF-11A2-19F0-6D5A7ADEAA11}"/>
          </ac:spMkLst>
        </pc:spChg>
        <pc:spChg chg="mod">
          <ac:chgData name="Muinat Tijani" userId="200c91c32dcecd70" providerId="LiveId" clId="{64531718-0F78-43B7-8241-660AE8910F53}" dt="2025-12-12T17:53:46.021" v="932" actId="1076"/>
          <ac:spMkLst>
            <pc:docMk/>
            <pc:sldMk cId="0" sldId="260"/>
            <ac:spMk id="12" creationId="{00000000-0000-0000-0000-000000000000}"/>
          </ac:spMkLst>
        </pc:spChg>
        <pc:spChg chg="mod">
          <ac:chgData name="Muinat Tijani" userId="200c91c32dcecd70" providerId="LiveId" clId="{64531718-0F78-43B7-8241-660AE8910F53}" dt="2025-12-09T10:50:17.050" v="360" actId="20577"/>
          <ac:spMkLst>
            <pc:docMk/>
            <pc:sldMk cId="0" sldId="260"/>
            <ac:spMk id="19" creationId="{00000000-0000-0000-0000-000000000000}"/>
          </ac:spMkLst>
        </pc:spChg>
      </pc:sldChg>
      <pc:sldChg chg="delSp modSp mod">
        <pc:chgData name="Muinat Tijani" userId="200c91c32dcecd70" providerId="LiveId" clId="{64531718-0F78-43B7-8241-660AE8910F53}" dt="2025-12-12T18:33:26.625" v="1177"/>
        <pc:sldMkLst>
          <pc:docMk/>
          <pc:sldMk cId="0" sldId="262"/>
        </pc:sldMkLst>
        <pc:spChg chg="mod">
          <ac:chgData name="Muinat Tijani" userId="200c91c32dcecd70" providerId="LiveId" clId="{64531718-0F78-43B7-8241-660AE8910F53}" dt="2025-12-09T11:00:00.556" v="498" actId="1076"/>
          <ac:spMkLst>
            <pc:docMk/>
            <pc:sldMk cId="0" sldId="262"/>
            <ac:spMk id="2" creationId="{00000000-0000-0000-0000-000000000000}"/>
          </ac:spMkLst>
        </pc:spChg>
        <pc:spChg chg="mod">
          <ac:chgData name="Muinat Tijani" userId="200c91c32dcecd70" providerId="LiveId" clId="{64531718-0F78-43B7-8241-660AE8910F53}" dt="2025-12-12T17:53:14.072" v="930" actId="1076"/>
          <ac:spMkLst>
            <pc:docMk/>
            <pc:sldMk cId="0" sldId="262"/>
            <ac:spMk id="6" creationId="{00000000-0000-0000-0000-000000000000}"/>
          </ac:spMkLst>
        </pc:spChg>
        <pc:spChg chg="mod">
          <ac:chgData name="Muinat Tijani" userId="200c91c32dcecd70" providerId="LiveId" clId="{64531718-0F78-43B7-8241-660AE8910F53}" dt="2025-12-12T18:31:50.825" v="1170" actId="1076"/>
          <ac:spMkLst>
            <pc:docMk/>
            <pc:sldMk cId="0" sldId="262"/>
            <ac:spMk id="10" creationId="{00000000-0000-0000-0000-000000000000}"/>
          </ac:spMkLst>
        </pc:spChg>
        <pc:spChg chg="del mod">
          <ac:chgData name="Muinat Tijani" userId="200c91c32dcecd70" providerId="LiveId" clId="{64531718-0F78-43B7-8241-660AE8910F53}" dt="2025-12-12T17:50:35.858" v="913" actId="478"/>
          <ac:spMkLst>
            <pc:docMk/>
            <pc:sldMk cId="0" sldId="262"/>
            <ac:spMk id="11" creationId="{00000000-0000-0000-0000-000000000000}"/>
          </ac:spMkLst>
        </pc:spChg>
        <pc:spChg chg="mod">
          <ac:chgData name="Muinat Tijani" userId="200c91c32dcecd70" providerId="LiveId" clId="{64531718-0F78-43B7-8241-660AE8910F53}" dt="2025-12-12T18:33:26.625" v="1177"/>
          <ac:spMkLst>
            <pc:docMk/>
            <pc:sldMk cId="0" sldId="262"/>
            <ac:spMk id="12" creationId="{00000000-0000-0000-0000-000000000000}"/>
          </ac:spMkLst>
        </pc:spChg>
        <pc:grpChg chg="del mod">
          <ac:chgData name="Muinat Tijani" userId="200c91c32dcecd70" providerId="LiveId" clId="{64531718-0F78-43B7-8241-660AE8910F53}" dt="2025-12-12T17:51:27.283" v="917" actId="478"/>
          <ac:grpSpMkLst>
            <pc:docMk/>
            <pc:sldMk cId="0" sldId="262"/>
            <ac:grpSpMk id="3" creationId="{00000000-0000-0000-0000-000000000000}"/>
          </ac:grpSpMkLst>
        </pc:grpChg>
      </pc:sldChg>
      <pc:sldChg chg="addSp delSp modSp mod">
        <pc:chgData name="Muinat Tijani" userId="200c91c32dcecd70" providerId="LiveId" clId="{64531718-0F78-43B7-8241-660AE8910F53}" dt="2025-12-12T18:33:14.811" v="1176" actId="207"/>
        <pc:sldMkLst>
          <pc:docMk/>
          <pc:sldMk cId="0" sldId="263"/>
        </pc:sldMkLst>
        <pc:spChg chg="del">
          <ac:chgData name="Muinat Tijani" userId="200c91c32dcecd70" providerId="LiveId" clId="{64531718-0F78-43B7-8241-660AE8910F53}" dt="2025-12-12T18:06:51.904" v="1073" actId="478"/>
          <ac:spMkLst>
            <pc:docMk/>
            <pc:sldMk cId="0" sldId="263"/>
            <ac:spMk id="2" creationId="{00000000-0000-0000-0000-000000000000}"/>
          </ac:spMkLst>
        </pc:spChg>
        <pc:spChg chg="add del">
          <ac:chgData name="Muinat Tijani" userId="200c91c32dcecd70" providerId="LiveId" clId="{64531718-0F78-43B7-8241-660AE8910F53}" dt="2025-12-12T18:06:49.672" v="1072" actId="478"/>
          <ac:spMkLst>
            <pc:docMk/>
            <pc:sldMk cId="0" sldId="263"/>
            <ac:spMk id="3" creationId="{00000000-0000-0000-0000-000000000000}"/>
          </ac:spMkLst>
        </pc:spChg>
        <pc:spChg chg="mod">
          <ac:chgData name="Muinat Tijani" userId="200c91c32dcecd70" providerId="LiveId" clId="{64531718-0F78-43B7-8241-660AE8910F53}" dt="2025-12-12T18:07:40.668" v="1078" actId="1076"/>
          <ac:spMkLst>
            <pc:docMk/>
            <pc:sldMk cId="0" sldId="263"/>
            <ac:spMk id="4" creationId="{00000000-0000-0000-0000-000000000000}"/>
          </ac:spMkLst>
        </pc:spChg>
        <pc:spChg chg="del">
          <ac:chgData name="Muinat Tijani" userId="200c91c32dcecd70" providerId="LiveId" clId="{64531718-0F78-43B7-8241-660AE8910F53}" dt="2025-12-12T17:59:37.151" v="944" actId="478"/>
          <ac:spMkLst>
            <pc:docMk/>
            <pc:sldMk cId="0" sldId="263"/>
            <ac:spMk id="11" creationId="{00000000-0000-0000-0000-000000000000}"/>
          </ac:spMkLst>
        </pc:spChg>
        <pc:spChg chg="del">
          <ac:chgData name="Muinat Tijani" userId="200c91c32dcecd70" providerId="LiveId" clId="{64531718-0F78-43B7-8241-660AE8910F53}" dt="2025-12-12T18:05:01.554" v="1059" actId="478"/>
          <ac:spMkLst>
            <pc:docMk/>
            <pc:sldMk cId="0" sldId="263"/>
            <ac:spMk id="12" creationId="{00000000-0000-0000-0000-000000000000}"/>
          </ac:spMkLst>
        </pc:spChg>
        <pc:spChg chg="mod">
          <ac:chgData name="Muinat Tijani" userId="200c91c32dcecd70" providerId="LiveId" clId="{64531718-0F78-43B7-8241-660AE8910F53}" dt="2025-12-12T18:32:08.437" v="1171" actId="1076"/>
          <ac:spMkLst>
            <pc:docMk/>
            <pc:sldMk cId="0" sldId="263"/>
            <ac:spMk id="13" creationId="{00000000-0000-0000-0000-000000000000}"/>
          </ac:spMkLst>
        </pc:spChg>
        <pc:spChg chg="del">
          <ac:chgData name="Muinat Tijani" userId="200c91c32dcecd70" providerId="LiveId" clId="{64531718-0F78-43B7-8241-660AE8910F53}" dt="2025-12-12T18:05:08.213" v="1061" actId="478"/>
          <ac:spMkLst>
            <pc:docMk/>
            <pc:sldMk cId="0" sldId="263"/>
            <ac:spMk id="14" creationId="{00000000-0000-0000-0000-000000000000}"/>
          </ac:spMkLst>
        </pc:spChg>
        <pc:spChg chg="mod">
          <ac:chgData name="Muinat Tijani" userId="200c91c32dcecd70" providerId="LiveId" clId="{64531718-0F78-43B7-8241-660AE8910F53}" dt="2025-12-12T18:33:14.811" v="1176" actId="207"/>
          <ac:spMkLst>
            <pc:docMk/>
            <pc:sldMk cId="0" sldId="263"/>
            <ac:spMk id="16" creationId="{00000000-0000-0000-0000-000000000000}"/>
          </ac:spMkLst>
        </pc:spChg>
        <pc:grpChg chg="add del">
          <ac:chgData name="Muinat Tijani" userId="200c91c32dcecd70" providerId="LiveId" clId="{64531718-0F78-43B7-8241-660AE8910F53}" dt="2025-12-12T17:59:38.952" v="945" actId="478"/>
          <ac:grpSpMkLst>
            <pc:docMk/>
            <pc:sldMk cId="0" sldId="263"/>
            <ac:grpSpMk id="5" creationId="{00000000-0000-0000-0000-000000000000}"/>
          </ac:grpSpMkLst>
        </pc:grpChg>
        <pc:grpChg chg="del">
          <ac:chgData name="Muinat Tijani" userId="200c91c32dcecd70" providerId="LiveId" clId="{64531718-0F78-43B7-8241-660AE8910F53}" dt="2025-12-12T18:05:03.314" v="1060" actId="478"/>
          <ac:grpSpMkLst>
            <pc:docMk/>
            <pc:sldMk cId="0" sldId="263"/>
            <ac:grpSpMk id="8" creationId="{00000000-0000-0000-0000-000000000000}"/>
          </ac:grpSpMkLst>
        </pc:grpChg>
      </pc:sldChg>
      <pc:sldChg chg="delSp modSp mod">
        <pc:chgData name="Muinat Tijani" userId="200c91c32dcecd70" providerId="LiveId" clId="{64531718-0F78-43B7-8241-660AE8910F53}" dt="2025-12-13T19:17:39.151" v="1204" actId="20577"/>
        <pc:sldMkLst>
          <pc:docMk/>
          <pc:sldMk cId="0" sldId="264"/>
        </pc:sldMkLst>
        <pc:spChg chg="mod">
          <ac:chgData name="Muinat Tijani" userId="200c91c32dcecd70" providerId="LiveId" clId="{64531718-0F78-43B7-8241-660AE8910F53}" dt="2025-12-09T11:01:54.503" v="537" actId="1076"/>
          <ac:spMkLst>
            <pc:docMk/>
            <pc:sldMk cId="0" sldId="264"/>
            <ac:spMk id="9" creationId="{00000000-0000-0000-0000-000000000000}"/>
          </ac:spMkLst>
        </pc:spChg>
        <pc:spChg chg="mod">
          <ac:chgData name="Muinat Tijani" userId="200c91c32dcecd70" providerId="LiveId" clId="{64531718-0F78-43B7-8241-660AE8910F53}" dt="2025-12-13T19:17:39.151" v="1204" actId="20577"/>
          <ac:spMkLst>
            <pc:docMk/>
            <pc:sldMk cId="0" sldId="264"/>
            <ac:spMk id="10" creationId="{00000000-0000-0000-0000-000000000000}"/>
          </ac:spMkLst>
        </pc:spChg>
        <pc:spChg chg="mod">
          <ac:chgData name="Muinat Tijani" userId="200c91c32dcecd70" providerId="LiveId" clId="{64531718-0F78-43B7-8241-660AE8910F53}" dt="2025-12-12T18:32:57.654" v="1174" actId="207"/>
          <ac:spMkLst>
            <pc:docMk/>
            <pc:sldMk cId="0" sldId="264"/>
            <ac:spMk id="12" creationId="{00000000-0000-0000-0000-000000000000}"/>
          </ac:spMkLst>
        </pc:spChg>
      </pc:sldChg>
      <pc:sldChg chg="modSp mod">
        <pc:chgData name="Muinat Tijani" userId="200c91c32dcecd70" providerId="LiveId" clId="{64531718-0F78-43B7-8241-660AE8910F53}" dt="2025-12-12T18:29:21.537" v="1161" actId="14100"/>
        <pc:sldMkLst>
          <pc:docMk/>
          <pc:sldMk cId="0" sldId="265"/>
        </pc:sldMkLst>
        <pc:spChg chg="mod">
          <ac:chgData name="Muinat Tijani" userId="200c91c32dcecd70" providerId="LiveId" clId="{64531718-0F78-43B7-8241-660AE8910F53}" dt="2025-12-12T18:29:21.537" v="1161" actId="14100"/>
          <ac:spMkLst>
            <pc:docMk/>
            <pc:sldMk cId="0" sldId="265"/>
            <ac:spMk id="15" creationId="{00000000-0000-0000-0000-000000000000}"/>
          </ac:spMkLst>
        </pc:spChg>
      </pc:sldChg>
      <pc:sldChg chg="addSp delSp modSp add mod">
        <pc:chgData name="Muinat Tijani" userId="200c91c32dcecd70" providerId="LiveId" clId="{64531718-0F78-43B7-8241-660AE8910F53}" dt="2025-12-09T10:46:30.738" v="299" actId="20577"/>
        <pc:sldMkLst>
          <pc:docMk/>
          <pc:sldMk cId="1371347589" sldId="266"/>
        </pc:sldMkLst>
        <pc:spChg chg="mod">
          <ac:chgData name="Muinat Tijani" userId="200c91c32dcecd70" providerId="LiveId" clId="{64531718-0F78-43B7-8241-660AE8910F53}" dt="2025-12-09T10:46:30.738" v="299" actId="20577"/>
          <ac:spMkLst>
            <pc:docMk/>
            <pc:sldMk cId="1371347589" sldId="266"/>
            <ac:spMk id="15" creationId="{FBF28460-0A99-3A15-9E12-4E13031DA5E4}"/>
          </ac:spMkLst>
        </pc:spChg>
        <pc:picChg chg="add mod">
          <ac:chgData name="Muinat Tijani" userId="200c91c32dcecd70" providerId="LiveId" clId="{64531718-0F78-43B7-8241-660AE8910F53}" dt="2025-12-09T10:44:10.906" v="273" actId="1036"/>
          <ac:picMkLst>
            <pc:docMk/>
            <pc:sldMk cId="1371347589" sldId="266"/>
            <ac:picMk id="29" creationId="{AD226974-8B1E-8A87-F2FD-FC816D4811E1}"/>
          </ac:picMkLst>
        </pc:picChg>
        <pc:picChg chg="add mod">
          <ac:chgData name="Muinat Tijani" userId="200c91c32dcecd70" providerId="LiveId" clId="{64531718-0F78-43B7-8241-660AE8910F53}" dt="2025-12-09T10:44:15.037" v="275" actId="1036"/>
          <ac:picMkLst>
            <pc:docMk/>
            <pc:sldMk cId="1371347589" sldId="266"/>
            <ac:picMk id="31" creationId="{9D8DDFD2-8B05-4B77-9421-909C323DBDEE}"/>
          </ac:picMkLst>
        </pc:picChg>
        <pc:picChg chg="add mod">
          <ac:chgData name="Muinat Tijani" userId="200c91c32dcecd70" providerId="LiveId" clId="{64531718-0F78-43B7-8241-660AE8910F53}" dt="2025-12-09T10:44:03.425" v="271" actId="1035"/>
          <ac:picMkLst>
            <pc:docMk/>
            <pc:sldMk cId="1371347589" sldId="266"/>
            <ac:picMk id="33" creationId="{5995D559-0D08-0169-591D-0636DB37476D}"/>
          </ac:picMkLst>
        </pc:picChg>
        <pc:picChg chg="add mod">
          <ac:chgData name="Muinat Tijani" userId="200c91c32dcecd70" providerId="LiveId" clId="{64531718-0F78-43B7-8241-660AE8910F53}" dt="2025-12-09T10:43:56.111" v="270" actId="1036"/>
          <ac:picMkLst>
            <pc:docMk/>
            <pc:sldMk cId="1371347589" sldId="266"/>
            <ac:picMk id="35" creationId="{378E59EC-8FFE-1079-EFE0-CEDAFF8A56AC}"/>
          </ac:picMkLst>
        </pc:picChg>
      </pc:sldChg>
      <pc:sldChg chg="addSp modSp add mod">
        <pc:chgData name="Muinat Tijani" userId="200c91c32dcecd70" providerId="LiveId" clId="{64531718-0F78-43B7-8241-660AE8910F53}" dt="2025-12-09T10:58:09.673" v="474" actId="1035"/>
        <pc:sldMkLst>
          <pc:docMk/>
          <pc:sldMk cId="1962878942" sldId="267"/>
        </pc:sldMkLst>
        <pc:spChg chg="mod">
          <ac:chgData name="Muinat Tijani" userId="200c91c32dcecd70" providerId="LiveId" clId="{64531718-0F78-43B7-8241-660AE8910F53}" dt="2025-12-09T10:55:20.855" v="451" actId="14100"/>
          <ac:spMkLst>
            <pc:docMk/>
            <pc:sldMk cId="1962878942" sldId="267"/>
            <ac:spMk id="12" creationId="{E27275AB-8027-E73A-6E11-F85F820CA883}"/>
          </ac:spMkLst>
        </pc:spChg>
        <pc:picChg chg="add mod">
          <ac:chgData name="Muinat Tijani" userId="200c91c32dcecd70" providerId="LiveId" clId="{64531718-0F78-43B7-8241-660AE8910F53}" dt="2025-12-09T10:57:44.499" v="472" actId="14100"/>
          <ac:picMkLst>
            <pc:docMk/>
            <pc:sldMk cId="1962878942" sldId="267"/>
            <ac:picMk id="5" creationId="{90B483B8-D5CF-1D6F-7750-5FB06243F07E}"/>
          </ac:picMkLst>
        </pc:picChg>
        <pc:picChg chg="add mod">
          <ac:chgData name="Muinat Tijani" userId="200c91c32dcecd70" providerId="LiveId" clId="{64531718-0F78-43B7-8241-660AE8910F53}" dt="2025-12-09T10:55:32.143" v="454" actId="1076"/>
          <ac:picMkLst>
            <pc:docMk/>
            <pc:sldMk cId="1962878942" sldId="267"/>
            <ac:picMk id="11" creationId="{EBFE1740-1490-7628-8BA3-257F6C43806B}"/>
          </ac:picMkLst>
        </pc:picChg>
        <pc:picChg chg="add mod">
          <ac:chgData name="Muinat Tijani" userId="200c91c32dcecd70" providerId="LiveId" clId="{64531718-0F78-43B7-8241-660AE8910F53}" dt="2025-12-09T10:55:46.579" v="457" actId="1076"/>
          <ac:picMkLst>
            <pc:docMk/>
            <pc:sldMk cId="1962878942" sldId="267"/>
            <ac:picMk id="13" creationId="{3654162E-4CE4-405D-B409-1A9A7B73BFE7}"/>
          </ac:picMkLst>
        </pc:picChg>
        <pc:picChg chg="add mod">
          <ac:chgData name="Muinat Tijani" userId="200c91c32dcecd70" providerId="LiveId" clId="{64531718-0F78-43B7-8241-660AE8910F53}" dt="2025-12-09T10:58:09.673" v="474" actId="1035"/>
          <ac:picMkLst>
            <pc:docMk/>
            <pc:sldMk cId="1962878942" sldId="267"/>
            <ac:picMk id="15" creationId="{EC70ED01-B045-61F7-C24C-1720D531DB2E}"/>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9.sv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4.png"/><Relationship Id="rId4" Type="http://schemas.openxmlformats.org/officeDocument/2006/relationships/image" Target="../media/image7.svg"/></Relationships>
</file>

<file path=ppt/slides/_rels/slide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13.png"/><Relationship Id="rId2" Type="http://schemas.openxmlformats.org/officeDocument/2006/relationships/image" Target="../media/image10.jpe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9.svg"/><Relationship Id="rId4" Type="http://schemas.openxmlformats.org/officeDocument/2006/relationships/image" Target="../media/image8.png"/><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6.jpe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4.png"/><Relationship Id="rId7" Type="http://schemas.openxmlformats.org/officeDocument/2006/relationships/image" Target="../media/image18.png"/><Relationship Id="rId2" Type="http://schemas.openxmlformats.org/officeDocument/2006/relationships/image" Target="../media/image16.jpe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9.svg"/><Relationship Id="rId4" Type="http://schemas.openxmlformats.org/officeDocument/2006/relationships/image" Target="../media/image8.png"/><Relationship Id="rId9"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1.jpe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23.sv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4.jpeg"/><Relationship Id="rId1" Type="http://schemas.openxmlformats.org/officeDocument/2006/relationships/slideLayout" Target="../slideLayouts/slideLayout7.xml"/><Relationship Id="rId5" Type="http://schemas.openxmlformats.org/officeDocument/2006/relationships/image" Target="../media/image23.sv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5.jpe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81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74" r="-74"/>
            </a:stretch>
          </a:blipFill>
        </p:spPr>
        <p:txBody>
          <a:bodyPr/>
          <a:lstStyle/>
          <a:p>
            <a:endParaRPr lang="en-GB"/>
          </a:p>
        </p:txBody>
      </p:sp>
      <p:sp>
        <p:nvSpPr>
          <p:cNvPr id="3" name="TextBox 3"/>
          <p:cNvSpPr txBox="1"/>
          <p:nvPr/>
        </p:nvSpPr>
        <p:spPr>
          <a:xfrm>
            <a:off x="1625860" y="2661847"/>
            <a:ext cx="8965940" cy="5641929"/>
          </a:xfrm>
          <a:prstGeom prst="rect">
            <a:avLst/>
          </a:prstGeom>
        </p:spPr>
        <p:txBody>
          <a:bodyPr wrap="square" lIns="0" tIns="0" rIns="0" bIns="0" rtlCol="0" anchor="t">
            <a:spAutoFit/>
          </a:bodyPr>
          <a:lstStyle/>
          <a:p>
            <a:pPr algn="l">
              <a:lnSpc>
                <a:spcPts val="15271"/>
              </a:lnSpc>
            </a:pPr>
            <a:r>
              <a:rPr lang="en-US" sz="8000" b="1" dirty="0">
                <a:solidFill>
                  <a:srgbClr val="FFFFFF"/>
                </a:solidFill>
                <a:latin typeface="Gotham Heavy"/>
                <a:ea typeface="Gotham Heavy"/>
                <a:cs typeface="Gotham Heavy"/>
                <a:sym typeface="Gotham Heavy"/>
              </a:rPr>
              <a:t>STOCK MARKET TREND PREDICTION</a:t>
            </a:r>
          </a:p>
        </p:txBody>
      </p:sp>
      <p:sp>
        <p:nvSpPr>
          <p:cNvPr id="4" name="Freeform 4"/>
          <p:cNvSpPr/>
          <p:nvPr/>
        </p:nvSpPr>
        <p:spPr>
          <a:xfrm>
            <a:off x="16686831" y="764138"/>
            <a:ext cx="716605" cy="371332"/>
          </a:xfrm>
          <a:custGeom>
            <a:avLst/>
            <a:gdLst/>
            <a:ahLst/>
            <a:cxnLst/>
            <a:rect l="l" t="t" r="r" b="b"/>
            <a:pathLst>
              <a:path w="716605" h="371332">
                <a:moveTo>
                  <a:pt x="0" y="0"/>
                </a:moveTo>
                <a:lnTo>
                  <a:pt x="716605" y="0"/>
                </a:lnTo>
                <a:lnTo>
                  <a:pt x="716605" y="371332"/>
                </a:lnTo>
                <a:lnTo>
                  <a:pt x="0" y="37133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5" name="Freeform 5"/>
          <p:cNvSpPr/>
          <p:nvPr/>
        </p:nvSpPr>
        <p:spPr>
          <a:xfrm>
            <a:off x="716194" y="764138"/>
            <a:ext cx="493452" cy="596316"/>
          </a:xfrm>
          <a:custGeom>
            <a:avLst/>
            <a:gdLst/>
            <a:ahLst/>
            <a:cxnLst/>
            <a:rect l="l" t="t" r="r" b="b"/>
            <a:pathLst>
              <a:path w="493452" h="596316">
                <a:moveTo>
                  <a:pt x="0" y="0"/>
                </a:moveTo>
                <a:lnTo>
                  <a:pt x="493452" y="0"/>
                </a:lnTo>
                <a:lnTo>
                  <a:pt x="493452" y="596316"/>
                </a:lnTo>
                <a:lnTo>
                  <a:pt x="0" y="596316"/>
                </a:lnTo>
                <a:lnTo>
                  <a:pt x="0" y="0"/>
                </a:lnTo>
                <a:close/>
              </a:path>
            </a:pathLst>
          </a:custGeom>
          <a:blipFill>
            <a:blip r:embed="rId5"/>
            <a:stretch>
              <a:fillRect/>
            </a:stretch>
          </a:blipFill>
        </p:spPr>
        <p:txBody>
          <a:bodyPr/>
          <a:lstStyle/>
          <a:p>
            <a:endParaRPr lang="en-GB"/>
          </a:p>
        </p:txBody>
      </p:sp>
      <p:sp>
        <p:nvSpPr>
          <p:cNvPr id="10" name="TextBox 10"/>
          <p:cNvSpPr txBox="1"/>
          <p:nvPr/>
        </p:nvSpPr>
        <p:spPr>
          <a:xfrm>
            <a:off x="1445780" y="649321"/>
            <a:ext cx="2501192" cy="688715"/>
          </a:xfrm>
          <a:prstGeom prst="rect">
            <a:avLst/>
          </a:prstGeom>
        </p:spPr>
        <p:txBody>
          <a:bodyPr lIns="0" tIns="0" rIns="0" bIns="0" rtlCol="0" anchor="t">
            <a:spAutoFit/>
          </a:bodyPr>
          <a:lstStyle/>
          <a:p>
            <a:pPr algn="l">
              <a:lnSpc>
                <a:spcPts val="2800"/>
              </a:lnSpc>
            </a:pPr>
            <a:r>
              <a:rPr lang="en-US" sz="2000" dirty="0">
                <a:solidFill>
                  <a:srgbClr val="FFFFFF"/>
                </a:solidFill>
                <a:latin typeface="Inter"/>
                <a:ea typeface="Inter"/>
                <a:cs typeface="Inter"/>
                <a:sym typeface="Inter"/>
              </a:rPr>
              <a:t>Global Investment Partners.</a:t>
            </a:r>
          </a:p>
        </p:txBody>
      </p:sp>
      <p:sp>
        <p:nvSpPr>
          <p:cNvPr id="11" name="TextBox 11"/>
          <p:cNvSpPr txBox="1"/>
          <p:nvPr/>
        </p:nvSpPr>
        <p:spPr>
          <a:xfrm>
            <a:off x="1625860" y="8504447"/>
            <a:ext cx="2171801" cy="359073"/>
          </a:xfrm>
          <a:prstGeom prst="rect">
            <a:avLst/>
          </a:prstGeom>
        </p:spPr>
        <p:txBody>
          <a:bodyPr lIns="0" tIns="0" rIns="0" bIns="0" rtlCol="0" anchor="t">
            <a:spAutoFit/>
          </a:bodyPr>
          <a:lstStyle/>
          <a:p>
            <a:pPr algn="l">
              <a:lnSpc>
                <a:spcPts val="2800"/>
              </a:lnSpc>
            </a:pPr>
            <a:r>
              <a:rPr lang="en-US" sz="2400" dirty="0">
                <a:solidFill>
                  <a:srgbClr val="FFFFFF"/>
                </a:solidFill>
                <a:latin typeface="Inter"/>
                <a:ea typeface="Inter"/>
                <a:cs typeface="Inter"/>
                <a:sym typeface="Inter"/>
              </a:rPr>
              <a:t>Presented by</a:t>
            </a:r>
          </a:p>
        </p:txBody>
      </p:sp>
      <p:sp>
        <p:nvSpPr>
          <p:cNvPr id="13" name="TextBox 13"/>
          <p:cNvSpPr txBox="1"/>
          <p:nvPr/>
        </p:nvSpPr>
        <p:spPr>
          <a:xfrm>
            <a:off x="14515030" y="8504447"/>
            <a:ext cx="2171801" cy="349217"/>
          </a:xfrm>
          <a:prstGeom prst="rect">
            <a:avLst/>
          </a:prstGeom>
        </p:spPr>
        <p:txBody>
          <a:bodyPr lIns="0" tIns="0" rIns="0" bIns="0" rtlCol="0" anchor="t">
            <a:spAutoFit/>
          </a:bodyPr>
          <a:lstStyle/>
          <a:p>
            <a:pPr algn="l">
              <a:lnSpc>
                <a:spcPts val="2800"/>
              </a:lnSpc>
            </a:pPr>
            <a:r>
              <a:rPr lang="en-US" sz="2000">
                <a:solidFill>
                  <a:srgbClr val="FFFFFF"/>
                </a:solidFill>
                <a:latin typeface="Inter"/>
                <a:ea typeface="Inter"/>
                <a:cs typeface="Inter"/>
                <a:sym typeface="Inter"/>
              </a:rPr>
              <a:t>Date</a:t>
            </a:r>
          </a:p>
        </p:txBody>
      </p:sp>
      <p:sp>
        <p:nvSpPr>
          <p:cNvPr id="14" name="TextBox 14"/>
          <p:cNvSpPr txBox="1"/>
          <p:nvPr/>
        </p:nvSpPr>
        <p:spPr>
          <a:xfrm>
            <a:off x="1625860" y="9044894"/>
            <a:ext cx="3631940" cy="365806"/>
          </a:xfrm>
          <a:prstGeom prst="rect">
            <a:avLst/>
          </a:prstGeom>
        </p:spPr>
        <p:txBody>
          <a:bodyPr wrap="square" lIns="0" tIns="0" rIns="0" bIns="0" rtlCol="0" anchor="t">
            <a:spAutoFit/>
          </a:bodyPr>
          <a:lstStyle/>
          <a:p>
            <a:pPr algn="l">
              <a:lnSpc>
                <a:spcPts val="2800"/>
              </a:lnSpc>
            </a:pPr>
            <a:r>
              <a:rPr lang="en-US" sz="3200" b="1" dirty="0">
                <a:solidFill>
                  <a:srgbClr val="FFFFFF"/>
                </a:solidFill>
                <a:latin typeface="Inter Bold"/>
                <a:ea typeface="Inter Bold"/>
                <a:cs typeface="Inter Bold"/>
                <a:sym typeface="Inter Bold"/>
              </a:rPr>
              <a:t>A. Muinat Tijani</a:t>
            </a:r>
          </a:p>
        </p:txBody>
      </p:sp>
      <p:sp>
        <p:nvSpPr>
          <p:cNvPr id="16" name="TextBox 16"/>
          <p:cNvSpPr txBox="1"/>
          <p:nvPr/>
        </p:nvSpPr>
        <p:spPr>
          <a:xfrm>
            <a:off x="14515030" y="8872714"/>
            <a:ext cx="2744270" cy="329642"/>
          </a:xfrm>
          <a:prstGeom prst="rect">
            <a:avLst/>
          </a:prstGeom>
        </p:spPr>
        <p:txBody>
          <a:bodyPr lIns="0" tIns="0" rIns="0" bIns="0" rtlCol="0" anchor="t">
            <a:spAutoFit/>
          </a:bodyPr>
          <a:lstStyle/>
          <a:p>
            <a:pPr algn="l">
              <a:lnSpc>
                <a:spcPts val="2800"/>
              </a:lnSpc>
            </a:pPr>
            <a:r>
              <a:rPr lang="en-US" sz="2000" b="1" dirty="0">
                <a:solidFill>
                  <a:srgbClr val="FFFFFF"/>
                </a:solidFill>
                <a:latin typeface="Inter Bold"/>
                <a:ea typeface="Inter Bold"/>
                <a:cs typeface="Inter Bold"/>
                <a:sym typeface="Inter Bold"/>
              </a:rPr>
              <a:t>December 13th,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411500" y="-291888"/>
            <a:ext cx="9718695" cy="10830757"/>
          </a:xfrm>
          <a:custGeom>
            <a:avLst/>
            <a:gdLst/>
            <a:ahLst/>
            <a:cxnLst/>
            <a:rect l="l" t="t" r="r" b="b"/>
            <a:pathLst>
              <a:path w="12328989" h="10830757">
                <a:moveTo>
                  <a:pt x="0" y="0"/>
                </a:moveTo>
                <a:lnTo>
                  <a:pt x="12328989" y="0"/>
                </a:lnTo>
                <a:lnTo>
                  <a:pt x="12328989" y="10830758"/>
                </a:lnTo>
                <a:lnTo>
                  <a:pt x="0" y="10830758"/>
                </a:lnTo>
                <a:lnTo>
                  <a:pt x="0" y="0"/>
                </a:lnTo>
                <a:close/>
              </a:path>
            </a:pathLst>
          </a:custGeom>
          <a:blipFill>
            <a:blip r:embed="rId2"/>
            <a:stretch>
              <a:fillRect l="-15803" r="-15803"/>
            </a:stretch>
          </a:blipFill>
        </p:spPr>
        <p:txBody>
          <a:bodyPr/>
          <a:lstStyle/>
          <a:p>
            <a:endParaRPr lang="en-GB"/>
          </a:p>
        </p:txBody>
      </p:sp>
      <p:sp>
        <p:nvSpPr>
          <p:cNvPr id="3" name="Freeform 3"/>
          <p:cNvSpPr/>
          <p:nvPr/>
        </p:nvSpPr>
        <p:spPr>
          <a:xfrm rot="5400000">
            <a:off x="8031343" y="1088268"/>
            <a:ext cx="10830757" cy="8070445"/>
          </a:xfrm>
          <a:custGeom>
            <a:avLst/>
            <a:gdLst/>
            <a:ahLst/>
            <a:cxnLst/>
            <a:rect l="l" t="t" r="r" b="b"/>
            <a:pathLst>
              <a:path w="10830757" h="10830757">
                <a:moveTo>
                  <a:pt x="0" y="0"/>
                </a:moveTo>
                <a:lnTo>
                  <a:pt x="10830757" y="0"/>
                </a:lnTo>
                <a:lnTo>
                  <a:pt x="10830757" y="10830758"/>
                </a:lnTo>
                <a:lnTo>
                  <a:pt x="0" y="1083075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13" name="Freeform 13"/>
          <p:cNvSpPr/>
          <p:nvPr/>
        </p:nvSpPr>
        <p:spPr>
          <a:xfrm>
            <a:off x="544417" y="540492"/>
            <a:ext cx="493452" cy="596316"/>
          </a:xfrm>
          <a:custGeom>
            <a:avLst/>
            <a:gdLst/>
            <a:ahLst/>
            <a:cxnLst/>
            <a:rect l="l" t="t" r="r" b="b"/>
            <a:pathLst>
              <a:path w="493452" h="596316">
                <a:moveTo>
                  <a:pt x="0" y="0"/>
                </a:moveTo>
                <a:lnTo>
                  <a:pt x="493451" y="0"/>
                </a:lnTo>
                <a:lnTo>
                  <a:pt x="493451" y="596316"/>
                </a:lnTo>
                <a:lnTo>
                  <a:pt x="0" y="596316"/>
                </a:lnTo>
                <a:lnTo>
                  <a:pt x="0" y="0"/>
                </a:lnTo>
                <a:close/>
              </a:path>
            </a:pathLst>
          </a:custGeom>
          <a:blipFill>
            <a:blip r:embed="rId5"/>
            <a:stretch>
              <a:fillRect/>
            </a:stretch>
          </a:blipFill>
        </p:spPr>
        <p:txBody>
          <a:bodyPr/>
          <a:lstStyle/>
          <a:p>
            <a:endParaRPr lang="en-GB"/>
          </a:p>
        </p:txBody>
      </p:sp>
      <p:sp>
        <p:nvSpPr>
          <p:cNvPr id="14" name="Freeform 14"/>
          <p:cNvSpPr/>
          <p:nvPr/>
        </p:nvSpPr>
        <p:spPr>
          <a:xfrm>
            <a:off x="16965837" y="809416"/>
            <a:ext cx="586926" cy="654785"/>
          </a:xfrm>
          <a:custGeom>
            <a:avLst/>
            <a:gdLst/>
            <a:ahLst/>
            <a:cxnLst/>
            <a:rect l="l" t="t" r="r" b="b"/>
            <a:pathLst>
              <a:path w="586926" h="654785">
                <a:moveTo>
                  <a:pt x="0" y="0"/>
                </a:moveTo>
                <a:lnTo>
                  <a:pt x="586926" y="0"/>
                </a:lnTo>
                <a:lnTo>
                  <a:pt x="586926" y="654785"/>
                </a:lnTo>
                <a:lnTo>
                  <a:pt x="0" y="65478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sp>
        <p:nvSpPr>
          <p:cNvPr id="15" name="TextBox 15"/>
          <p:cNvSpPr txBox="1"/>
          <p:nvPr/>
        </p:nvSpPr>
        <p:spPr>
          <a:xfrm>
            <a:off x="544417" y="1674931"/>
            <a:ext cx="7278386" cy="923330"/>
          </a:xfrm>
          <a:prstGeom prst="rect">
            <a:avLst/>
          </a:prstGeom>
        </p:spPr>
        <p:txBody>
          <a:bodyPr wrap="square" lIns="0" tIns="0" rIns="0" bIns="0" rtlCol="0" anchor="t">
            <a:spAutoFit/>
          </a:bodyPr>
          <a:lstStyle/>
          <a:p>
            <a:pPr algn="l">
              <a:lnSpc>
                <a:spcPts val="7150"/>
              </a:lnSpc>
            </a:pPr>
            <a:r>
              <a:rPr lang="en-US" sz="6500" b="1" dirty="0">
                <a:solidFill>
                  <a:srgbClr val="000000"/>
                </a:solidFill>
                <a:latin typeface="Gotham Bold"/>
                <a:ea typeface="Gotham Bold"/>
                <a:cs typeface="Gotham Bold"/>
                <a:sym typeface="Gotham Bold"/>
              </a:rPr>
              <a:t>Project Overview</a:t>
            </a:r>
          </a:p>
        </p:txBody>
      </p:sp>
      <p:sp>
        <p:nvSpPr>
          <p:cNvPr id="20" name="TextBox 20"/>
          <p:cNvSpPr txBox="1"/>
          <p:nvPr/>
        </p:nvSpPr>
        <p:spPr>
          <a:xfrm>
            <a:off x="544417" y="2933700"/>
            <a:ext cx="8332085" cy="6584688"/>
          </a:xfrm>
          <a:prstGeom prst="rect">
            <a:avLst/>
          </a:prstGeom>
        </p:spPr>
        <p:txBody>
          <a:bodyPr wrap="square" lIns="0" tIns="0" rIns="0" bIns="0" rtlCol="0" anchor="t">
            <a:spAutoFit/>
          </a:bodyPr>
          <a:lstStyle/>
          <a:p>
            <a:pPr>
              <a:lnSpc>
                <a:spcPts val="2660"/>
              </a:lnSpc>
            </a:pPr>
            <a:r>
              <a:rPr lang="en-GB" sz="2800" dirty="0"/>
              <a:t>This project focuses on understanding stock market behaviour and developing a predictive model to classify price trends into upward, downward, or sideways movements. It directly addresses a key challenge faced by Global Investment Partners: the inability to identify trend shifts consistently and early enough, which leads to weak market timing and missed trading opportunities. </a:t>
            </a:r>
          </a:p>
          <a:p>
            <a:pPr>
              <a:lnSpc>
                <a:spcPts val="2660"/>
              </a:lnSpc>
            </a:pPr>
            <a:endParaRPr lang="en-GB" sz="2800" dirty="0"/>
          </a:p>
          <a:p>
            <a:pPr>
              <a:lnSpc>
                <a:spcPts val="2660"/>
              </a:lnSpc>
            </a:pPr>
            <a:r>
              <a:rPr lang="en-GB" sz="2800" dirty="0"/>
              <a:t>Using more than three years of daily OHLCV data across 20 stocks from multiple sectors, together with technical indicators, we carried out exploratory analysis to uncover patterns, volatility regimes, and sector relationships. </a:t>
            </a:r>
          </a:p>
          <a:p>
            <a:pPr>
              <a:lnSpc>
                <a:spcPts val="2660"/>
              </a:lnSpc>
            </a:pPr>
            <a:endParaRPr lang="en-GB" sz="2800" dirty="0"/>
          </a:p>
          <a:p>
            <a:pPr>
              <a:lnSpc>
                <a:spcPts val="2660"/>
              </a:lnSpc>
            </a:pPr>
            <a:r>
              <a:rPr lang="en-GB" sz="2800" dirty="0"/>
              <a:t>These insights supported the development of a trend-classification model aimed at improving the clarity and reliability of market interpretation. The scope of the work is limited to data analysis and modelling, and does not extend to engineering tasks such as APIs, deployment, or </a:t>
            </a:r>
            <a:r>
              <a:rPr lang="en-GB" sz="2800" dirty="0" err="1"/>
              <a:t>MLOps</a:t>
            </a:r>
            <a:r>
              <a:rPr lang="en-GB" sz="2800" dirty="0"/>
              <a:t>.</a:t>
            </a:r>
            <a:endParaRPr lang="en-US" sz="2800" dirty="0">
              <a:solidFill>
                <a:srgbClr val="737373"/>
              </a:solidFill>
              <a:latin typeface="Inter"/>
              <a:ea typeface="Inter"/>
              <a:cs typeface="Inter"/>
              <a:sym typeface="Inter"/>
            </a:endParaRPr>
          </a:p>
        </p:txBody>
      </p:sp>
      <p:sp>
        <p:nvSpPr>
          <p:cNvPr id="21" name="TextBox 21"/>
          <p:cNvSpPr txBox="1"/>
          <p:nvPr/>
        </p:nvSpPr>
        <p:spPr>
          <a:xfrm>
            <a:off x="1274003" y="425674"/>
            <a:ext cx="2501192" cy="688715"/>
          </a:xfrm>
          <a:prstGeom prst="rect">
            <a:avLst/>
          </a:prstGeom>
        </p:spPr>
        <p:txBody>
          <a:bodyPr lIns="0" tIns="0" rIns="0" bIns="0" rtlCol="0" anchor="t">
            <a:spAutoFit/>
          </a:bodyPr>
          <a:lstStyle/>
          <a:p>
            <a:pPr algn="l">
              <a:lnSpc>
                <a:spcPts val="2800"/>
              </a:lnSpc>
            </a:pPr>
            <a:r>
              <a:rPr lang="en-US" sz="2000" dirty="0">
                <a:solidFill>
                  <a:srgbClr val="545454"/>
                </a:solidFill>
                <a:latin typeface="Inter"/>
                <a:ea typeface="Inter"/>
                <a:cs typeface="Inter"/>
                <a:sym typeface="Inter"/>
              </a:rPr>
              <a:t>Global Investment Partners.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txBody>
          <a:bodyPr/>
          <a:lstStyle/>
          <a:p>
            <a:endParaRPr lang="en-GB"/>
          </a:p>
        </p:txBody>
      </p:sp>
      <p:grpSp>
        <p:nvGrpSpPr>
          <p:cNvPr id="3" name="Group 3"/>
          <p:cNvGrpSpPr/>
          <p:nvPr/>
        </p:nvGrpSpPr>
        <p:grpSpPr>
          <a:xfrm>
            <a:off x="12734587" y="2326837"/>
            <a:ext cx="5553413" cy="7960163"/>
            <a:chOff x="0" y="0"/>
            <a:chExt cx="1141437" cy="643623"/>
          </a:xfrm>
        </p:grpSpPr>
        <p:sp>
          <p:nvSpPr>
            <p:cNvPr id="4" name="Freeform 4"/>
            <p:cNvSpPr/>
            <p:nvPr/>
          </p:nvSpPr>
          <p:spPr>
            <a:xfrm>
              <a:off x="0" y="0"/>
              <a:ext cx="1141437" cy="643623"/>
            </a:xfrm>
            <a:custGeom>
              <a:avLst/>
              <a:gdLst/>
              <a:ahLst/>
              <a:cxnLst/>
              <a:rect l="l" t="t" r="r" b="b"/>
              <a:pathLst>
                <a:path w="1141437" h="643623">
                  <a:moveTo>
                    <a:pt x="0" y="0"/>
                  </a:moveTo>
                  <a:lnTo>
                    <a:pt x="1141437" y="0"/>
                  </a:lnTo>
                  <a:lnTo>
                    <a:pt x="1141437" y="643623"/>
                  </a:lnTo>
                  <a:lnTo>
                    <a:pt x="0" y="643623"/>
                  </a:lnTo>
                  <a:close/>
                </a:path>
              </a:pathLst>
            </a:custGeom>
            <a:blipFill>
              <a:blip r:embed="rId3"/>
              <a:stretch>
                <a:fillRect t="-9115" b="-9115"/>
              </a:stretch>
            </a:blipFill>
          </p:spPr>
          <p:txBody>
            <a:bodyPr/>
            <a:lstStyle/>
            <a:p>
              <a:endParaRPr lang="en-GB"/>
            </a:p>
          </p:txBody>
        </p:sp>
      </p:grpSp>
      <p:sp>
        <p:nvSpPr>
          <p:cNvPr id="5" name="Freeform 5"/>
          <p:cNvSpPr/>
          <p:nvPr/>
        </p:nvSpPr>
        <p:spPr>
          <a:xfrm>
            <a:off x="544417" y="540492"/>
            <a:ext cx="493452" cy="596316"/>
          </a:xfrm>
          <a:custGeom>
            <a:avLst/>
            <a:gdLst/>
            <a:ahLst/>
            <a:cxnLst/>
            <a:rect l="l" t="t" r="r" b="b"/>
            <a:pathLst>
              <a:path w="493452" h="596316">
                <a:moveTo>
                  <a:pt x="0" y="0"/>
                </a:moveTo>
                <a:lnTo>
                  <a:pt x="493451" y="0"/>
                </a:lnTo>
                <a:lnTo>
                  <a:pt x="493451" y="596316"/>
                </a:lnTo>
                <a:lnTo>
                  <a:pt x="0" y="596316"/>
                </a:lnTo>
                <a:lnTo>
                  <a:pt x="0" y="0"/>
                </a:lnTo>
                <a:close/>
              </a:path>
            </a:pathLst>
          </a:custGeom>
          <a:blipFill>
            <a:blip r:embed="rId4"/>
            <a:stretch>
              <a:fillRect/>
            </a:stretch>
          </a:blipFill>
        </p:spPr>
        <p:txBody>
          <a:bodyPr/>
          <a:lstStyle/>
          <a:p>
            <a:endParaRPr lang="en-GB"/>
          </a:p>
        </p:txBody>
      </p:sp>
      <p:sp>
        <p:nvSpPr>
          <p:cNvPr id="15" name="TextBox 15"/>
          <p:cNvSpPr txBox="1"/>
          <p:nvPr/>
        </p:nvSpPr>
        <p:spPr>
          <a:xfrm>
            <a:off x="1037869" y="1707888"/>
            <a:ext cx="7525130" cy="914400"/>
          </a:xfrm>
          <a:prstGeom prst="rect">
            <a:avLst/>
          </a:prstGeom>
        </p:spPr>
        <p:txBody>
          <a:bodyPr wrap="square" lIns="0" tIns="0" rIns="0" bIns="0" rtlCol="0" anchor="t">
            <a:spAutoFit/>
          </a:bodyPr>
          <a:lstStyle/>
          <a:p>
            <a:pPr algn="l">
              <a:lnSpc>
                <a:spcPts val="7150"/>
              </a:lnSpc>
            </a:pPr>
            <a:r>
              <a:rPr lang="en-US" sz="6500" b="1" dirty="0">
                <a:solidFill>
                  <a:srgbClr val="FFFFFF"/>
                </a:solidFill>
                <a:latin typeface="Gotham Bold"/>
                <a:ea typeface="Gotham Bold"/>
                <a:cs typeface="Gotham Bold"/>
                <a:sym typeface="Gotham Bold"/>
              </a:rPr>
              <a:t>Dataset Summary</a:t>
            </a:r>
          </a:p>
        </p:txBody>
      </p:sp>
      <p:sp>
        <p:nvSpPr>
          <p:cNvPr id="19" name="TextBox 19"/>
          <p:cNvSpPr txBox="1"/>
          <p:nvPr/>
        </p:nvSpPr>
        <p:spPr>
          <a:xfrm>
            <a:off x="1037869" y="3215787"/>
            <a:ext cx="10820400" cy="5892190"/>
          </a:xfrm>
          <a:prstGeom prst="rect">
            <a:avLst/>
          </a:prstGeom>
        </p:spPr>
        <p:txBody>
          <a:bodyPr wrap="square" lIns="0" tIns="0" rIns="0" bIns="0" rtlCol="0" anchor="t">
            <a:spAutoFit/>
          </a:bodyPr>
          <a:lstStyle/>
          <a:p>
            <a:pPr>
              <a:lnSpc>
                <a:spcPts val="2660"/>
              </a:lnSpc>
            </a:pPr>
            <a:r>
              <a:rPr lang="en-GB" sz="2800" dirty="0">
                <a:solidFill>
                  <a:schemeClr val="bg1"/>
                </a:solidFill>
              </a:rPr>
              <a:t>This project analyses market behaviour across </a:t>
            </a:r>
            <a:r>
              <a:rPr lang="en-GB" sz="2800" b="1" dirty="0">
                <a:solidFill>
                  <a:schemeClr val="bg1"/>
                </a:solidFill>
              </a:rPr>
              <a:t>20 stocks</a:t>
            </a:r>
            <a:r>
              <a:rPr lang="en-GB" sz="2800" dirty="0">
                <a:solidFill>
                  <a:schemeClr val="bg1"/>
                </a:solidFill>
              </a:rPr>
              <a:t> using daily OHLCV data from </a:t>
            </a:r>
            <a:r>
              <a:rPr lang="en-GB" sz="2800" b="1" dirty="0">
                <a:solidFill>
                  <a:schemeClr val="bg1"/>
                </a:solidFill>
              </a:rPr>
              <a:t>January 2021 to January 2024</a:t>
            </a:r>
            <a:r>
              <a:rPr lang="en-GB" sz="2800" dirty="0">
                <a:solidFill>
                  <a:schemeClr val="bg1"/>
                </a:solidFill>
              </a:rPr>
              <a:t>, drawn from the core datasets covering stock prices, technical indicators, market indices, and fundamental information. Our exploratory work examines price movements, volatility patterns, sector differences, and broader market influences, forming the foundation for developing a model to classify trends into upward, downward, or sideways regimes. </a:t>
            </a:r>
          </a:p>
          <a:p>
            <a:pPr>
              <a:lnSpc>
                <a:spcPts val="2660"/>
              </a:lnSpc>
            </a:pPr>
            <a:endParaRPr lang="en-GB" sz="2800" dirty="0">
              <a:solidFill>
                <a:schemeClr val="bg1"/>
              </a:solidFill>
            </a:endParaRPr>
          </a:p>
          <a:p>
            <a:pPr>
              <a:lnSpc>
                <a:spcPts val="2660"/>
              </a:lnSpc>
            </a:pPr>
            <a:r>
              <a:rPr lang="en-GB" sz="2800" dirty="0">
                <a:solidFill>
                  <a:schemeClr val="bg1"/>
                </a:solidFill>
              </a:rPr>
              <a:t>The predictive features used in the model include momentum_10, momentum_20, sma_20, sma_200, </a:t>
            </a:r>
            <a:r>
              <a:rPr lang="en-GB" sz="2800" dirty="0" err="1">
                <a:solidFill>
                  <a:schemeClr val="bg1"/>
                </a:solidFill>
              </a:rPr>
              <a:t>macd</a:t>
            </a:r>
            <a:r>
              <a:rPr lang="en-GB" sz="2800" dirty="0">
                <a:solidFill>
                  <a:schemeClr val="bg1"/>
                </a:solidFill>
              </a:rPr>
              <a:t>, </a:t>
            </a:r>
            <a:r>
              <a:rPr lang="en-GB" sz="2800" dirty="0" err="1">
                <a:solidFill>
                  <a:schemeClr val="bg1"/>
                </a:solidFill>
              </a:rPr>
              <a:t>macd_signal</a:t>
            </a:r>
            <a:r>
              <a:rPr lang="en-GB" sz="2800" dirty="0">
                <a:solidFill>
                  <a:schemeClr val="bg1"/>
                </a:solidFill>
              </a:rPr>
              <a:t>, </a:t>
            </a:r>
            <a:r>
              <a:rPr lang="en-GB" sz="2800" dirty="0" err="1">
                <a:solidFill>
                  <a:schemeClr val="bg1"/>
                </a:solidFill>
              </a:rPr>
              <a:t>bb_width</a:t>
            </a:r>
            <a:r>
              <a:rPr lang="en-GB" sz="2800" dirty="0">
                <a:solidFill>
                  <a:schemeClr val="bg1"/>
                </a:solidFill>
              </a:rPr>
              <a:t>, atr_14, volume_sma_20, and </a:t>
            </a:r>
            <a:r>
              <a:rPr lang="en-GB" sz="2800" dirty="0" err="1">
                <a:solidFill>
                  <a:schemeClr val="bg1"/>
                </a:solidFill>
              </a:rPr>
              <a:t>volume_ratio</a:t>
            </a:r>
            <a:r>
              <a:rPr lang="en-GB" sz="2800" dirty="0">
                <a:solidFill>
                  <a:schemeClr val="bg1"/>
                </a:solidFill>
              </a:rPr>
              <a:t>, each capturing different aspects of trend strength, volatility conditions, and volume dynamics. </a:t>
            </a:r>
          </a:p>
          <a:p>
            <a:pPr>
              <a:lnSpc>
                <a:spcPts val="2660"/>
              </a:lnSpc>
            </a:pPr>
            <a:endParaRPr lang="en-GB" sz="2800" dirty="0">
              <a:solidFill>
                <a:schemeClr val="bg1"/>
              </a:solidFill>
            </a:endParaRPr>
          </a:p>
          <a:p>
            <a:pPr>
              <a:lnSpc>
                <a:spcPts val="2660"/>
              </a:lnSpc>
            </a:pPr>
            <a:r>
              <a:rPr lang="en-GB" sz="2800" dirty="0">
                <a:solidFill>
                  <a:schemeClr val="bg1"/>
                </a:solidFill>
              </a:rPr>
              <a:t>By combining these data sources with focused analysis and modelling, the project aims to improve the consistency and clarity of trend identification, supporting more informed trading decisions while deliberately excluding engineering components such as APIs, </a:t>
            </a:r>
            <a:r>
              <a:rPr lang="en-GB" sz="2800" dirty="0" err="1">
                <a:solidFill>
                  <a:schemeClr val="bg1"/>
                </a:solidFill>
              </a:rPr>
              <a:t>MLOps</a:t>
            </a:r>
            <a:r>
              <a:rPr lang="en-GB" sz="2800" dirty="0">
                <a:solidFill>
                  <a:schemeClr val="bg1"/>
                </a:solidFill>
              </a:rPr>
              <a:t>, or deployment</a:t>
            </a:r>
            <a:endParaRPr lang="en-US" sz="2800" dirty="0">
              <a:solidFill>
                <a:schemeClr val="bg1"/>
              </a:solidFill>
              <a:latin typeface="Inter"/>
              <a:ea typeface="Inter"/>
              <a:cs typeface="Inter"/>
              <a:sym typeface="Inter"/>
            </a:endParaRPr>
          </a:p>
        </p:txBody>
      </p:sp>
      <p:sp>
        <p:nvSpPr>
          <p:cNvPr id="22" name="TextBox 22"/>
          <p:cNvSpPr txBox="1"/>
          <p:nvPr/>
        </p:nvSpPr>
        <p:spPr>
          <a:xfrm>
            <a:off x="1274003" y="425674"/>
            <a:ext cx="2501192" cy="688715"/>
          </a:xfrm>
          <a:prstGeom prst="rect">
            <a:avLst/>
          </a:prstGeom>
        </p:spPr>
        <p:txBody>
          <a:bodyPr lIns="0" tIns="0" rIns="0" bIns="0" rtlCol="0" anchor="t">
            <a:spAutoFit/>
          </a:bodyPr>
          <a:lstStyle/>
          <a:p>
            <a:pPr algn="l">
              <a:lnSpc>
                <a:spcPts val="2800"/>
              </a:lnSpc>
            </a:pPr>
            <a:r>
              <a:rPr lang="en-US" sz="2000" dirty="0">
                <a:solidFill>
                  <a:srgbClr val="FFFFFF"/>
                </a:solidFill>
                <a:latin typeface="Inter"/>
                <a:ea typeface="Inter"/>
                <a:cs typeface="Inter"/>
                <a:sym typeface="Inter"/>
              </a:rPr>
              <a:t>Global Investment Partners.</a:t>
            </a:r>
          </a:p>
        </p:txBody>
      </p:sp>
      <p:sp>
        <p:nvSpPr>
          <p:cNvPr id="23" name="Freeform 23"/>
          <p:cNvSpPr/>
          <p:nvPr/>
        </p:nvSpPr>
        <p:spPr>
          <a:xfrm>
            <a:off x="16965837" y="809416"/>
            <a:ext cx="586926" cy="654785"/>
          </a:xfrm>
          <a:custGeom>
            <a:avLst/>
            <a:gdLst/>
            <a:ahLst/>
            <a:cxnLst/>
            <a:rect l="l" t="t" r="r" b="b"/>
            <a:pathLst>
              <a:path w="586926" h="654785">
                <a:moveTo>
                  <a:pt x="0" y="0"/>
                </a:moveTo>
                <a:lnTo>
                  <a:pt x="586926" y="0"/>
                </a:lnTo>
                <a:lnTo>
                  <a:pt x="586926" y="654785"/>
                </a:lnTo>
                <a:lnTo>
                  <a:pt x="0" y="65478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64BB0-E894-CE20-6E85-BDF693B0AF8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6548E69-45D2-67E3-A8B4-E3CFA7534F24}"/>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txBody>
          <a:bodyPr/>
          <a:lstStyle/>
          <a:p>
            <a:endParaRPr lang="en-GB"/>
          </a:p>
        </p:txBody>
      </p:sp>
      <p:sp>
        <p:nvSpPr>
          <p:cNvPr id="5" name="Freeform 5">
            <a:extLst>
              <a:ext uri="{FF2B5EF4-FFF2-40B4-BE49-F238E27FC236}">
                <a16:creationId xmlns:a16="http://schemas.microsoft.com/office/drawing/2014/main" id="{A7787888-0F9C-3D00-694C-A39C3DCEDAD4}"/>
              </a:ext>
            </a:extLst>
          </p:cNvPr>
          <p:cNvSpPr/>
          <p:nvPr/>
        </p:nvSpPr>
        <p:spPr>
          <a:xfrm>
            <a:off x="544417" y="540492"/>
            <a:ext cx="493452" cy="596316"/>
          </a:xfrm>
          <a:custGeom>
            <a:avLst/>
            <a:gdLst/>
            <a:ahLst/>
            <a:cxnLst/>
            <a:rect l="l" t="t" r="r" b="b"/>
            <a:pathLst>
              <a:path w="493452" h="596316">
                <a:moveTo>
                  <a:pt x="0" y="0"/>
                </a:moveTo>
                <a:lnTo>
                  <a:pt x="493451" y="0"/>
                </a:lnTo>
                <a:lnTo>
                  <a:pt x="493451" y="596316"/>
                </a:lnTo>
                <a:lnTo>
                  <a:pt x="0" y="596316"/>
                </a:lnTo>
                <a:lnTo>
                  <a:pt x="0" y="0"/>
                </a:lnTo>
                <a:close/>
              </a:path>
            </a:pathLst>
          </a:custGeom>
          <a:blipFill>
            <a:blip r:embed="rId3"/>
            <a:stretch>
              <a:fillRect/>
            </a:stretch>
          </a:blipFill>
        </p:spPr>
        <p:txBody>
          <a:bodyPr/>
          <a:lstStyle/>
          <a:p>
            <a:endParaRPr lang="en-GB"/>
          </a:p>
        </p:txBody>
      </p:sp>
      <p:sp>
        <p:nvSpPr>
          <p:cNvPr id="15" name="TextBox 15">
            <a:extLst>
              <a:ext uri="{FF2B5EF4-FFF2-40B4-BE49-F238E27FC236}">
                <a16:creationId xmlns:a16="http://schemas.microsoft.com/office/drawing/2014/main" id="{FBF28460-0A99-3A15-9E12-4E13031DA5E4}"/>
              </a:ext>
            </a:extLst>
          </p:cNvPr>
          <p:cNvSpPr txBox="1"/>
          <p:nvPr/>
        </p:nvSpPr>
        <p:spPr>
          <a:xfrm>
            <a:off x="5124070" y="495300"/>
            <a:ext cx="7525130" cy="914400"/>
          </a:xfrm>
          <a:prstGeom prst="rect">
            <a:avLst/>
          </a:prstGeom>
        </p:spPr>
        <p:txBody>
          <a:bodyPr wrap="square" lIns="0" tIns="0" rIns="0" bIns="0" rtlCol="0" anchor="t">
            <a:spAutoFit/>
          </a:bodyPr>
          <a:lstStyle/>
          <a:p>
            <a:pPr algn="l">
              <a:lnSpc>
                <a:spcPts val="7150"/>
              </a:lnSpc>
            </a:pPr>
            <a:r>
              <a:rPr lang="en-US" sz="6500" b="1" dirty="0">
                <a:solidFill>
                  <a:srgbClr val="FFFFFF"/>
                </a:solidFill>
                <a:latin typeface="Gotham Bold"/>
                <a:ea typeface="Gotham Bold"/>
                <a:cs typeface="Gotham Bold"/>
                <a:sym typeface="Gotham Bold"/>
              </a:rPr>
              <a:t>Key EDA Insights</a:t>
            </a:r>
          </a:p>
        </p:txBody>
      </p:sp>
      <p:sp>
        <p:nvSpPr>
          <p:cNvPr id="22" name="TextBox 22">
            <a:extLst>
              <a:ext uri="{FF2B5EF4-FFF2-40B4-BE49-F238E27FC236}">
                <a16:creationId xmlns:a16="http://schemas.microsoft.com/office/drawing/2014/main" id="{B398EDA4-06AC-B7ED-A7AF-D8A220A3AC8D}"/>
              </a:ext>
            </a:extLst>
          </p:cNvPr>
          <p:cNvSpPr txBox="1"/>
          <p:nvPr/>
        </p:nvSpPr>
        <p:spPr>
          <a:xfrm>
            <a:off x="1274003" y="425674"/>
            <a:ext cx="2501192" cy="688715"/>
          </a:xfrm>
          <a:prstGeom prst="rect">
            <a:avLst/>
          </a:prstGeom>
        </p:spPr>
        <p:txBody>
          <a:bodyPr lIns="0" tIns="0" rIns="0" bIns="0" rtlCol="0" anchor="t">
            <a:spAutoFit/>
          </a:bodyPr>
          <a:lstStyle/>
          <a:p>
            <a:pPr algn="l">
              <a:lnSpc>
                <a:spcPts val="2800"/>
              </a:lnSpc>
            </a:pPr>
            <a:r>
              <a:rPr lang="en-US" sz="2000" dirty="0">
                <a:solidFill>
                  <a:srgbClr val="FFFFFF"/>
                </a:solidFill>
                <a:latin typeface="Inter"/>
                <a:ea typeface="Inter"/>
                <a:cs typeface="Inter"/>
                <a:sym typeface="Inter"/>
              </a:rPr>
              <a:t>Global Investment Partners.</a:t>
            </a:r>
          </a:p>
        </p:txBody>
      </p:sp>
      <p:sp>
        <p:nvSpPr>
          <p:cNvPr id="23" name="Freeform 23">
            <a:extLst>
              <a:ext uri="{FF2B5EF4-FFF2-40B4-BE49-F238E27FC236}">
                <a16:creationId xmlns:a16="http://schemas.microsoft.com/office/drawing/2014/main" id="{BB7AE1ED-FEEA-C45A-6B18-3E3FAD2B5E2C}"/>
              </a:ext>
            </a:extLst>
          </p:cNvPr>
          <p:cNvSpPr/>
          <p:nvPr/>
        </p:nvSpPr>
        <p:spPr>
          <a:xfrm>
            <a:off x="16965837" y="809416"/>
            <a:ext cx="586926" cy="654785"/>
          </a:xfrm>
          <a:custGeom>
            <a:avLst/>
            <a:gdLst/>
            <a:ahLst/>
            <a:cxnLst/>
            <a:rect l="l" t="t" r="r" b="b"/>
            <a:pathLst>
              <a:path w="586926" h="654785">
                <a:moveTo>
                  <a:pt x="0" y="0"/>
                </a:moveTo>
                <a:lnTo>
                  <a:pt x="586926" y="0"/>
                </a:lnTo>
                <a:lnTo>
                  <a:pt x="586926" y="654785"/>
                </a:lnTo>
                <a:lnTo>
                  <a:pt x="0" y="65478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pic>
        <p:nvPicPr>
          <p:cNvPr id="31" name="Picture 30" descr="A graph of different colored lines&#10;&#10;AI-generated content may be incorrect.">
            <a:extLst>
              <a:ext uri="{FF2B5EF4-FFF2-40B4-BE49-F238E27FC236}">
                <a16:creationId xmlns:a16="http://schemas.microsoft.com/office/drawing/2014/main" id="{9D8DDFD2-8B05-4B77-9421-909C323DBDE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5770514"/>
            <a:ext cx="8734615" cy="4554586"/>
          </a:xfrm>
          <a:prstGeom prst="rect">
            <a:avLst/>
          </a:prstGeom>
        </p:spPr>
      </p:pic>
      <p:pic>
        <p:nvPicPr>
          <p:cNvPr id="29" name="Picture 28" descr="A colorful squares with black lines&#10;&#10;AI-generated content may be incorrect.">
            <a:extLst>
              <a:ext uri="{FF2B5EF4-FFF2-40B4-BE49-F238E27FC236}">
                <a16:creationId xmlns:a16="http://schemas.microsoft.com/office/drawing/2014/main" id="{AD226974-8B1E-8A87-F2FD-FC816D4811E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971282" y="5846713"/>
            <a:ext cx="9316717" cy="4478387"/>
          </a:xfrm>
          <a:prstGeom prst="rect">
            <a:avLst/>
          </a:prstGeom>
        </p:spPr>
      </p:pic>
      <p:pic>
        <p:nvPicPr>
          <p:cNvPr id="33" name="Picture 32" descr="A graph of a graph&#10;&#10;AI-generated content may be incorrect.">
            <a:extLst>
              <a:ext uri="{FF2B5EF4-FFF2-40B4-BE49-F238E27FC236}">
                <a16:creationId xmlns:a16="http://schemas.microsoft.com/office/drawing/2014/main" id="{5995D559-0D08-0169-591D-0636DB37476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0" y="1562100"/>
            <a:ext cx="8734615" cy="4082892"/>
          </a:xfrm>
          <a:prstGeom prst="rect">
            <a:avLst/>
          </a:prstGeom>
        </p:spPr>
      </p:pic>
      <p:pic>
        <p:nvPicPr>
          <p:cNvPr id="35" name="Picture 34" descr="A graph of a graph">
            <a:extLst>
              <a:ext uri="{FF2B5EF4-FFF2-40B4-BE49-F238E27FC236}">
                <a16:creationId xmlns:a16="http://schemas.microsoft.com/office/drawing/2014/main" id="{378E59EC-8FFE-1079-EFE0-CEDAFF8A56A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971283" y="1544686"/>
            <a:ext cx="9316717" cy="4208414"/>
          </a:xfrm>
          <a:prstGeom prst="rect">
            <a:avLst/>
          </a:prstGeom>
        </p:spPr>
      </p:pic>
    </p:spTree>
    <p:extLst>
      <p:ext uri="{BB962C8B-B14F-4D97-AF65-F5344CB8AC3E}">
        <p14:creationId xmlns:p14="http://schemas.microsoft.com/office/powerpoint/2010/main" val="13713475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GB" dirty="0"/>
          </a:p>
        </p:txBody>
      </p:sp>
      <p:sp>
        <p:nvSpPr>
          <p:cNvPr id="3" name="Freeform 3"/>
          <p:cNvSpPr/>
          <p:nvPr/>
        </p:nvSpPr>
        <p:spPr>
          <a:xfrm>
            <a:off x="544417" y="540492"/>
            <a:ext cx="493452" cy="596316"/>
          </a:xfrm>
          <a:custGeom>
            <a:avLst/>
            <a:gdLst/>
            <a:ahLst/>
            <a:cxnLst/>
            <a:rect l="l" t="t" r="r" b="b"/>
            <a:pathLst>
              <a:path w="493452" h="596316">
                <a:moveTo>
                  <a:pt x="0" y="0"/>
                </a:moveTo>
                <a:lnTo>
                  <a:pt x="493451" y="0"/>
                </a:lnTo>
                <a:lnTo>
                  <a:pt x="493451" y="596316"/>
                </a:lnTo>
                <a:lnTo>
                  <a:pt x="0" y="596316"/>
                </a:lnTo>
                <a:lnTo>
                  <a:pt x="0" y="0"/>
                </a:lnTo>
                <a:close/>
              </a:path>
            </a:pathLst>
          </a:custGeom>
          <a:blipFill>
            <a:blip r:embed="rId3"/>
            <a:stretch>
              <a:fillRect/>
            </a:stretch>
          </a:blipFill>
        </p:spPr>
        <p:txBody>
          <a:bodyPr/>
          <a:lstStyle/>
          <a:p>
            <a:endParaRPr lang="en-GB"/>
          </a:p>
        </p:txBody>
      </p:sp>
      <p:sp>
        <p:nvSpPr>
          <p:cNvPr id="12" name="TextBox 12"/>
          <p:cNvSpPr txBox="1"/>
          <p:nvPr/>
        </p:nvSpPr>
        <p:spPr>
          <a:xfrm>
            <a:off x="4780907" y="1257300"/>
            <a:ext cx="8726186" cy="923330"/>
          </a:xfrm>
          <a:prstGeom prst="rect">
            <a:avLst/>
          </a:prstGeom>
        </p:spPr>
        <p:txBody>
          <a:bodyPr wrap="square" lIns="0" tIns="0" rIns="0" bIns="0" rtlCol="0" anchor="t">
            <a:spAutoFit/>
          </a:bodyPr>
          <a:lstStyle/>
          <a:p>
            <a:pPr algn="l">
              <a:lnSpc>
                <a:spcPts val="7150"/>
              </a:lnSpc>
            </a:pPr>
            <a:r>
              <a:rPr lang="en-US" sz="6500" b="1" dirty="0">
                <a:solidFill>
                  <a:srgbClr val="FFFFFF"/>
                </a:solidFill>
                <a:latin typeface="Gotham Bold"/>
                <a:ea typeface="Gotham Bold"/>
                <a:cs typeface="Gotham Bold"/>
                <a:sym typeface="Gotham Bold"/>
              </a:rPr>
              <a:t>Modelling Approach</a:t>
            </a:r>
          </a:p>
        </p:txBody>
      </p:sp>
      <p:sp>
        <p:nvSpPr>
          <p:cNvPr id="19" name="TextBox 19"/>
          <p:cNvSpPr txBox="1"/>
          <p:nvPr/>
        </p:nvSpPr>
        <p:spPr>
          <a:xfrm>
            <a:off x="1274003" y="425674"/>
            <a:ext cx="2501192" cy="688715"/>
          </a:xfrm>
          <a:prstGeom prst="rect">
            <a:avLst/>
          </a:prstGeom>
        </p:spPr>
        <p:txBody>
          <a:bodyPr lIns="0" tIns="0" rIns="0" bIns="0" rtlCol="0" anchor="t">
            <a:spAutoFit/>
          </a:bodyPr>
          <a:lstStyle/>
          <a:p>
            <a:pPr algn="l">
              <a:lnSpc>
                <a:spcPts val="2800"/>
              </a:lnSpc>
            </a:pPr>
            <a:r>
              <a:rPr lang="en-US" sz="2000" dirty="0">
                <a:solidFill>
                  <a:srgbClr val="FFFFFF"/>
                </a:solidFill>
                <a:latin typeface="Inter"/>
                <a:ea typeface="Inter"/>
                <a:cs typeface="Inter"/>
                <a:sym typeface="Inter"/>
              </a:rPr>
              <a:t>Global Investment Partners.</a:t>
            </a:r>
          </a:p>
        </p:txBody>
      </p:sp>
      <p:sp>
        <p:nvSpPr>
          <p:cNvPr id="30" name="Freeform 30"/>
          <p:cNvSpPr/>
          <p:nvPr/>
        </p:nvSpPr>
        <p:spPr>
          <a:xfrm>
            <a:off x="16965837" y="809416"/>
            <a:ext cx="586926" cy="654785"/>
          </a:xfrm>
          <a:custGeom>
            <a:avLst/>
            <a:gdLst/>
            <a:ahLst/>
            <a:cxnLst/>
            <a:rect l="l" t="t" r="r" b="b"/>
            <a:pathLst>
              <a:path w="586926" h="654785">
                <a:moveTo>
                  <a:pt x="0" y="0"/>
                </a:moveTo>
                <a:lnTo>
                  <a:pt x="586926" y="0"/>
                </a:lnTo>
                <a:lnTo>
                  <a:pt x="586926" y="654785"/>
                </a:lnTo>
                <a:lnTo>
                  <a:pt x="0" y="65478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4" name="TextBox 3">
            <a:extLst>
              <a:ext uri="{FF2B5EF4-FFF2-40B4-BE49-F238E27FC236}">
                <a16:creationId xmlns:a16="http://schemas.microsoft.com/office/drawing/2014/main" id="{03EF7A89-96EF-11A2-19F0-6D5A7ADEAA11}"/>
              </a:ext>
            </a:extLst>
          </p:cNvPr>
          <p:cNvSpPr txBox="1"/>
          <p:nvPr/>
        </p:nvSpPr>
        <p:spPr>
          <a:xfrm>
            <a:off x="1274002" y="2705100"/>
            <a:ext cx="15337597" cy="7294305"/>
          </a:xfrm>
          <a:prstGeom prst="rect">
            <a:avLst/>
          </a:prstGeom>
          <a:noFill/>
        </p:spPr>
        <p:txBody>
          <a:bodyPr wrap="square" rtlCol="0">
            <a:spAutoFit/>
          </a:bodyPr>
          <a:lstStyle/>
          <a:p>
            <a:pPr marL="571500" indent="-571500">
              <a:buFont typeface="Wingdings" panose="05000000000000000000" pitchFamily="2" charset="2"/>
              <a:buChar char="§"/>
            </a:pPr>
            <a:r>
              <a:rPr lang="en-GB" sz="3600" dirty="0">
                <a:solidFill>
                  <a:schemeClr val="bg1"/>
                </a:solidFill>
              </a:rPr>
              <a:t>Baseline: </a:t>
            </a:r>
            <a:r>
              <a:rPr lang="en-GB" sz="3600" b="1" dirty="0">
                <a:solidFill>
                  <a:schemeClr val="bg1"/>
                </a:solidFill>
              </a:rPr>
              <a:t>Logistic Regression</a:t>
            </a:r>
            <a:r>
              <a:rPr lang="en-GB" sz="3600" dirty="0">
                <a:solidFill>
                  <a:schemeClr val="bg1"/>
                </a:solidFill>
              </a:rPr>
              <a:t> is interpretable and transparent because each feature has a visible coefficient that directly shows the direction and strength of its influence on the prediction. </a:t>
            </a:r>
          </a:p>
          <a:p>
            <a:pPr marL="571500" indent="-571500">
              <a:buFont typeface="Wingdings" panose="05000000000000000000" pitchFamily="2" charset="2"/>
              <a:buChar char="§"/>
            </a:pPr>
            <a:endParaRPr lang="en-GB" sz="3600" dirty="0">
              <a:solidFill>
                <a:schemeClr val="bg1"/>
              </a:solidFill>
            </a:endParaRPr>
          </a:p>
          <a:p>
            <a:pPr marL="571500" indent="-571500">
              <a:buFont typeface="Wingdings" panose="05000000000000000000" pitchFamily="2" charset="2"/>
              <a:buChar char="§"/>
            </a:pPr>
            <a:r>
              <a:rPr lang="en-GB" sz="3600" dirty="0">
                <a:solidFill>
                  <a:schemeClr val="bg1"/>
                </a:solidFill>
              </a:rPr>
              <a:t>Improved: </a:t>
            </a:r>
            <a:r>
              <a:rPr lang="en-GB" sz="3600" b="1" dirty="0">
                <a:solidFill>
                  <a:schemeClr val="bg1"/>
                </a:solidFill>
              </a:rPr>
              <a:t>Random Forest </a:t>
            </a:r>
            <a:r>
              <a:rPr lang="en-GB" sz="3600" dirty="0">
                <a:solidFill>
                  <a:schemeClr val="bg1"/>
                </a:solidFill>
              </a:rPr>
              <a:t>captures not heavily non-linear market behaviour as it perform similar to </a:t>
            </a:r>
            <a:r>
              <a:rPr lang="en-GB" sz="3600" dirty="0" err="1">
                <a:solidFill>
                  <a:schemeClr val="bg1"/>
                </a:solidFill>
              </a:rPr>
              <a:t>logreg</a:t>
            </a:r>
            <a:r>
              <a:rPr lang="en-GB" sz="3600" dirty="0">
                <a:solidFill>
                  <a:schemeClr val="bg1"/>
                </a:solidFill>
              </a:rPr>
              <a:t> and also reduces over-reliance on any single signal which make the prediction reliable.</a:t>
            </a:r>
          </a:p>
          <a:p>
            <a:pPr marL="571500" indent="-571500">
              <a:buFont typeface="Wingdings" panose="05000000000000000000" pitchFamily="2" charset="2"/>
              <a:buChar char="§"/>
            </a:pPr>
            <a:endParaRPr lang="en-GB" sz="3600" dirty="0">
              <a:solidFill>
                <a:schemeClr val="bg1"/>
              </a:solidFill>
            </a:endParaRPr>
          </a:p>
          <a:p>
            <a:pPr marL="571500" indent="-571500">
              <a:buFont typeface="Wingdings" panose="05000000000000000000" pitchFamily="2" charset="2"/>
              <a:buChar char="§"/>
            </a:pPr>
            <a:r>
              <a:rPr lang="en-GB" sz="3600" dirty="0">
                <a:solidFill>
                  <a:schemeClr val="bg1"/>
                </a:solidFill>
              </a:rPr>
              <a:t>Supervised learning for trend classification</a:t>
            </a:r>
          </a:p>
          <a:p>
            <a:pPr marL="571500" indent="-571500">
              <a:buFont typeface="Wingdings" panose="05000000000000000000" pitchFamily="2" charset="2"/>
              <a:buChar char="§"/>
            </a:pPr>
            <a:endParaRPr lang="en-GB" sz="3600" dirty="0">
              <a:solidFill>
                <a:schemeClr val="bg1"/>
              </a:solidFill>
            </a:endParaRPr>
          </a:p>
          <a:p>
            <a:pPr marL="571500" indent="-571500">
              <a:buFont typeface="Wingdings" panose="05000000000000000000" pitchFamily="2" charset="2"/>
              <a:buChar char="§"/>
            </a:pPr>
            <a:r>
              <a:rPr lang="en-GB" sz="3600" dirty="0">
                <a:solidFill>
                  <a:schemeClr val="bg1"/>
                </a:solidFill>
              </a:rPr>
              <a:t>Time-based train/test split: This helps model predict the future using the past data and ensures performance results are realistic and trustworthy.</a:t>
            </a:r>
          </a:p>
          <a:p>
            <a:endParaRPr lang="en-GB" sz="3600" dirty="0">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D8106-D5D0-E31C-D7B8-3080C0121B6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3C3EC39-71F7-7D15-1E0E-4C6453B1CA3D}"/>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GB"/>
          </a:p>
        </p:txBody>
      </p:sp>
      <p:sp>
        <p:nvSpPr>
          <p:cNvPr id="3" name="Freeform 3">
            <a:extLst>
              <a:ext uri="{FF2B5EF4-FFF2-40B4-BE49-F238E27FC236}">
                <a16:creationId xmlns:a16="http://schemas.microsoft.com/office/drawing/2014/main" id="{960C4861-7A47-AAFE-0F2A-2BE789DE2F14}"/>
              </a:ext>
            </a:extLst>
          </p:cNvPr>
          <p:cNvSpPr/>
          <p:nvPr/>
        </p:nvSpPr>
        <p:spPr>
          <a:xfrm>
            <a:off x="544417" y="540492"/>
            <a:ext cx="493452" cy="596316"/>
          </a:xfrm>
          <a:custGeom>
            <a:avLst/>
            <a:gdLst/>
            <a:ahLst/>
            <a:cxnLst/>
            <a:rect l="l" t="t" r="r" b="b"/>
            <a:pathLst>
              <a:path w="493452" h="596316">
                <a:moveTo>
                  <a:pt x="0" y="0"/>
                </a:moveTo>
                <a:lnTo>
                  <a:pt x="493451" y="0"/>
                </a:lnTo>
                <a:lnTo>
                  <a:pt x="493451" y="596316"/>
                </a:lnTo>
                <a:lnTo>
                  <a:pt x="0" y="596316"/>
                </a:lnTo>
                <a:lnTo>
                  <a:pt x="0" y="0"/>
                </a:lnTo>
                <a:close/>
              </a:path>
            </a:pathLst>
          </a:custGeom>
          <a:blipFill>
            <a:blip r:embed="rId3"/>
            <a:stretch>
              <a:fillRect/>
            </a:stretch>
          </a:blipFill>
        </p:spPr>
        <p:txBody>
          <a:bodyPr/>
          <a:lstStyle/>
          <a:p>
            <a:endParaRPr lang="en-GB"/>
          </a:p>
        </p:txBody>
      </p:sp>
      <p:sp>
        <p:nvSpPr>
          <p:cNvPr id="12" name="TextBox 12">
            <a:extLst>
              <a:ext uri="{FF2B5EF4-FFF2-40B4-BE49-F238E27FC236}">
                <a16:creationId xmlns:a16="http://schemas.microsoft.com/office/drawing/2014/main" id="{E27275AB-8027-E73A-6E11-F85F820CA883}"/>
              </a:ext>
            </a:extLst>
          </p:cNvPr>
          <p:cNvSpPr txBox="1"/>
          <p:nvPr/>
        </p:nvSpPr>
        <p:spPr>
          <a:xfrm>
            <a:off x="5502325" y="675143"/>
            <a:ext cx="6232475" cy="923330"/>
          </a:xfrm>
          <a:prstGeom prst="rect">
            <a:avLst/>
          </a:prstGeom>
        </p:spPr>
        <p:txBody>
          <a:bodyPr wrap="square" lIns="0" tIns="0" rIns="0" bIns="0" rtlCol="0" anchor="t">
            <a:spAutoFit/>
          </a:bodyPr>
          <a:lstStyle/>
          <a:p>
            <a:pPr algn="l">
              <a:lnSpc>
                <a:spcPts val="7150"/>
              </a:lnSpc>
            </a:pPr>
            <a:r>
              <a:rPr lang="en-US" sz="6500" b="1" dirty="0">
                <a:solidFill>
                  <a:srgbClr val="FFFFFF"/>
                </a:solidFill>
                <a:latin typeface="Gotham Bold"/>
                <a:ea typeface="Gotham Bold"/>
                <a:cs typeface="Gotham Bold"/>
                <a:sym typeface="Gotham Bold"/>
              </a:rPr>
              <a:t>Model Result</a:t>
            </a:r>
          </a:p>
        </p:txBody>
      </p:sp>
      <p:sp>
        <p:nvSpPr>
          <p:cNvPr id="19" name="TextBox 19">
            <a:extLst>
              <a:ext uri="{FF2B5EF4-FFF2-40B4-BE49-F238E27FC236}">
                <a16:creationId xmlns:a16="http://schemas.microsoft.com/office/drawing/2014/main" id="{DB11A25E-72B7-70ED-0AD7-8321A74078E2}"/>
              </a:ext>
            </a:extLst>
          </p:cNvPr>
          <p:cNvSpPr txBox="1"/>
          <p:nvPr/>
        </p:nvSpPr>
        <p:spPr>
          <a:xfrm>
            <a:off x="1274003" y="425674"/>
            <a:ext cx="2501192" cy="688715"/>
          </a:xfrm>
          <a:prstGeom prst="rect">
            <a:avLst/>
          </a:prstGeom>
        </p:spPr>
        <p:txBody>
          <a:bodyPr lIns="0" tIns="0" rIns="0" bIns="0" rtlCol="0" anchor="t">
            <a:spAutoFit/>
          </a:bodyPr>
          <a:lstStyle/>
          <a:p>
            <a:pPr algn="l">
              <a:lnSpc>
                <a:spcPts val="2800"/>
              </a:lnSpc>
            </a:pPr>
            <a:r>
              <a:rPr lang="en-US" sz="2000" dirty="0">
                <a:solidFill>
                  <a:srgbClr val="FFFFFF"/>
                </a:solidFill>
                <a:latin typeface="Inter"/>
                <a:ea typeface="Inter"/>
                <a:cs typeface="Inter"/>
                <a:sym typeface="Inter"/>
              </a:rPr>
              <a:t>Global Investment Partners.</a:t>
            </a:r>
          </a:p>
        </p:txBody>
      </p:sp>
      <p:sp>
        <p:nvSpPr>
          <p:cNvPr id="30" name="Freeform 30">
            <a:extLst>
              <a:ext uri="{FF2B5EF4-FFF2-40B4-BE49-F238E27FC236}">
                <a16:creationId xmlns:a16="http://schemas.microsoft.com/office/drawing/2014/main" id="{B7AA1A1F-0B72-AB1D-DABD-C59EEEF158D9}"/>
              </a:ext>
            </a:extLst>
          </p:cNvPr>
          <p:cNvSpPr/>
          <p:nvPr/>
        </p:nvSpPr>
        <p:spPr>
          <a:xfrm>
            <a:off x="16965837" y="809416"/>
            <a:ext cx="586926" cy="654785"/>
          </a:xfrm>
          <a:custGeom>
            <a:avLst/>
            <a:gdLst/>
            <a:ahLst/>
            <a:cxnLst/>
            <a:rect l="l" t="t" r="r" b="b"/>
            <a:pathLst>
              <a:path w="586926" h="654785">
                <a:moveTo>
                  <a:pt x="0" y="0"/>
                </a:moveTo>
                <a:lnTo>
                  <a:pt x="586926" y="0"/>
                </a:lnTo>
                <a:lnTo>
                  <a:pt x="586926" y="654785"/>
                </a:lnTo>
                <a:lnTo>
                  <a:pt x="0" y="65478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pic>
        <p:nvPicPr>
          <p:cNvPr id="11" name="Picture 10" descr="A screenshot of a color chart&#10;&#10;AI-generated content may be incorrect.">
            <a:extLst>
              <a:ext uri="{FF2B5EF4-FFF2-40B4-BE49-F238E27FC236}">
                <a16:creationId xmlns:a16="http://schemas.microsoft.com/office/drawing/2014/main" id="{EBFE1740-1490-7628-8BA3-257F6C43806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2273616"/>
            <a:ext cx="7772400" cy="3954811"/>
          </a:xfrm>
          <a:prstGeom prst="rect">
            <a:avLst/>
          </a:prstGeom>
        </p:spPr>
      </p:pic>
      <p:pic>
        <p:nvPicPr>
          <p:cNvPr id="13" name="Picture 12" descr="A screenshot of a color palette">
            <a:extLst>
              <a:ext uri="{FF2B5EF4-FFF2-40B4-BE49-F238E27FC236}">
                <a16:creationId xmlns:a16="http://schemas.microsoft.com/office/drawing/2014/main" id="{3654162E-4CE4-405D-B409-1A9A7B73BFE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859780" y="2273616"/>
            <a:ext cx="8420725" cy="3954811"/>
          </a:xfrm>
          <a:prstGeom prst="rect">
            <a:avLst/>
          </a:prstGeom>
        </p:spPr>
      </p:pic>
      <p:pic>
        <p:nvPicPr>
          <p:cNvPr id="15" name="Picture 14" descr="A graph with blue bars&#10;&#10;AI-generated content may be incorrect.">
            <a:extLst>
              <a:ext uri="{FF2B5EF4-FFF2-40B4-BE49-F238E27FC236}">
                <a16:creationId xmlns:a16="http://schemas.microsoft.com/office/drawing/2014/main" id="{EC70ED01-B045-61F7-C24C-1720D531DB2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0" y="6515100"/>
            <a:ext cx="7772399" cy="3744382"/>
          </a:xfrm>
          <a:prstGeom prst="rect">
            <a:avLst/>
          </a:prstGeom>
        </p:spPr>
      </p:pic>
      <p:pic>
        <p:nvPicPr>
          <p:cNvPr id="5" name="Picture 4" descr="A screenshot of a black screen&#10;&#10;AI-generated content may be incorrect.">
            <a:extLst>
              <a:ext uri="{FF2B5EF4-FFF2-40B4-BE49-F238E27FC236}">
                <a16:creationId xmlns:a16="http://schemas.microsoft.com/office/drawing/2014/main" id="{90B483B8-D5CF-1D6F-7750-5FB06243F07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982200" y="6903569"/>
            <a:ext cx="8298305" cy="3279667"/>
          </a:xfrm>
          <a:prstGeom prst="rect">
            <a:avLst/>
          </a:prstGeom>
        </p:spPr>
      </p:pic>
    </p:spTree>
    <p:extLst>
      <p:ext uri="{BB962C8B-B14F-4D97-AF65-F5344CB8AC3E}">
        <p14:creationId xmlns:p14="http://schemas.microsoft.com/office/powerpoint/2010/main" val="19628789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4997"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t="-9333" b="-9333"/>
            </a:stretch>
          </a:blipFill>
        </p:spPr>
        <p:txBody>
          <a:bodyPr/>
          <a:lstStyle/>
          <a:p>
            <a:endParaRPr lang="en-GB"/>
          </a:p>
        </p:txBody>
      </p:sp>
      <p:sp>
        <p:nvSpPr>
          <p:cNvPr id="5" name="Freeform 5"/>
          <p:cNvSpPr/>
          <p:nvPr/>
        </p:nvSpPr>
        <p:spPr>
          <a:xfrm>
            <a:off x="544417" y="540492"/>
            <a:ext cx="493452" cy="596316"/>
          </a:xfrm>
          <a:custGeom>
            <a:avLst/>
            <a:gdLst/>
            <a:ahLst/>
            <a:cxnLst/>
            <a:rect l="l" t="t" r="r" b="b"/>
            <a:pathLst>
              <a:path w="493452" h="596316">
                <a:moveTo>
                  <a:pt x="0" y="0"/>
                </a:moveTo>
                <a:lnTo>
                  <a:pt x="493451" y="0"/>
                </a:lnTo>
                <a:lnTo>
                  <a:pt x="493451" y="596316"/>
                </a:lnTo>
                <a:lnTo>
                  <a:pt x="0" y="596316"/>
                </a:lnTo>
                <a:lnTo>
                  <a:pt x="0" y="0"/>
                </a:lnTo>
                <a:close/>
              </a:path>
            </a:pathLst>
          </a:custGeom>
          <a:blipFill>
            <a:blip r:embed="rId3"/>
            <a:stretch>
              <a:fillRect/>
            </a:stretch>
          </a:blipFill>
        </p:spPr>
        <p:txBody>
          <a:bodyPr/>
          <a:lstStyle/>
          <a:p>
            <a:endParaRPr lang="en-GB"/>
          </a:p>
        </p:txBody>
      </p:sp>
      <p:sp>
        <p:nvSpPr>
          <p:cNvPr id="6" name="TextBox 6"/>
          <p:cNvSpPr txBox="1"/>
          <p:nvPr/>
        </p:nvSpPr>
        <p:spPr>
          <a:xfrm>
            <a:off x="6355228" y="1159918"/>
            <a:ext cx="5577543" cy="923330"/>
          </a:xfrm>
          <a:prstGeom prst="rect">
            <a:avLst/>
          </a:prstGeom>
        </p:spPr>
        <p:txBody>
          <a:bodyPr lIns="0" tIns="0" rIns="0" bIns="0" rtlCol="0" anchor="t">
            <a:spAutoFit/>
          </a:bodyPr>
          <a:lstStyle/>
          <a:p>
            <a:pPr algn="l">
              <a:lnSpc>
                <a:spcPts val="7150"/>
              </a:lnSpc>
            </a:pPr>
            <a:r>
              <a:rPr lang="en-US" sz="6500" b="1" dirty="0">
                <a:solidFill>
                  <a:srgbClr val="FFFFFF"/>
                </a:solidFill>
                <a:latin typeface="Gotham Bold"/>
                <a:ea typeface="Gotham Bold"/>
                <a:cs typeface="Gotham Bold"/>
                <a:sym typeface="Gotham Bold"/>
              </a:rPr>
              <a:t>Final insights</a:t>
            </a:r>
          </a:p>
        </p:txBody>
      </p:sp>
      <p:sp>
        <p:nvSpPr>
          <p:cNvPr id="10" name="TextBox 10"/>
          <p:cNvSpPr txBox="1"/>
          <p:nvPr/>
        </p:nvSpPr>
        <p:spPr>
          <a:xfrm>
            <a:off x="1274003" y="2663774"/>
            <a:ext cx="13335000" cy="6463308"/>
          </a:xfrm>
          <a:prstGeom prst="rect">
            <a:avLst/>
          </a:prstGeom>
        </p:spPr>
        <p:txBody>
          <a:bodyPr wrap="square" lIns="0" tIns="0" rIns="0" bIns="0" rtlCol="0" anchor="t">
            <a:spAutoFit/>
          </a:bodyPr>
          <a:lstStyle/>
          <a:p>
            <a:pPr marL="457200" indent="-457200">
              <a:buFont typeface="Wingdings" panose="05000000000000000000" pitchFamily="2" charset="2"/>
              <a:buChar char="§"/>
            </a:pPr>
            <a:r>
              <a:rPr lang="en-GB" sz="2800" dirty="0">
                <a:solidFill>
                  <a:schemeClr val="bg1"/>
                </a:solidFill>
              </a:rPr>
              <a:t>Stock markets are noisy and difficult to predict</a:t>
            </a:r>
          </a:p>
          <a:p>
            <a:pPr marL="457200" indent="-457200">
              <a:buFont typeface="Wingdings" panose="05000000000000000000" pitchFamily="2" charset="2"/>
              <a:buChar char="§"/>
            </a:pPr>
            <a:endParaRPr lang="en-GB" sz="2800" dirty="0">
              <a:solidFill>
                <a:schemeClr val="bg1"/>
              </a:solidFill>
            </a:endParaRPr>
          </a:p>
          <a:p>
            <a:pPr marL="457200" indent="-457200">
              <a:buFont typeface="Wingdings" panose="05000000000000000000" pitchFamily="2" charset="2"/>
              <a:buChar char="§"/>
            </a:pPr>
            <a:r>
              <a:rPr lang="en-GB" sz="2800" dirty="0">
                <a:solidFill>
                  <a:schemeClr val="bg1"/>
                </a:solidFill>
              </a:rPr>
              <a:t>The analysis shows that </a:t>
            </a:r>
            <a:r>
              <a:rPr lang="en-GB" sz="2800" b="1" dirty="0">
                <a:solidFill>
                  <a:schemeClr val="bg1"/>
                </a:solidFill>
              </a:rPr>
              <a:t>stock market trends are difficult to predict with high precision using technical indicators alone</a:t>
            </a:r>
            <a:r>
              <a:rPr lang="en-GB" sz="2800" dirty="0">
                <a:solidFill>
                  <a:schemeClr val="bg1"/>
                </a:solidFill>
              </a:rPr>
              <a:t>.</a:t>
            </a:r>
          </a:p>
          <a:p>
            <a:pPr marL="457200" indent="-457200">
              <a:buFont typeface="Wingdings" panose="05000000000000000000" pitchFamily="2" charset="2"/>
              <a:buChar char="§"/>
            </a:pPr>
            <a:endParaRPr lang="en-GB" sz="2800" dirty="0">
              <a:solidFill>
                <a:schemeClr val="bg1"/>
              </a:solidFill>
            </a:endParaRPr>
          </a:p>
          <a:p>
            <a:pPr marL="457200" indent="-457200">
              <a:buFont typeface="Wingdings" panose="05000000000000000000" pitchFamily="2" charset="2"/>
              <a:buChar char="§"/>
            </a:pPr>
            <a:r>
              <a:rPr lang="en-GB" sz="2800" dirty="0">
                <a:solidFill>
                  <a:schemeClr val="bg1"/>
                </a:solidFill>
              </a:rPr>
              <a:t>Exploratory analysis confirms that markets move in </a:t>
            </a:r>
            <a:r>
              <a:rPr lang="en-GB" sz="2800" b="1" dirty="0">
                <a:solidFill>
                  <a:schemeClr val="bg1"/>
                </a:solidFill>
              </a:rPr>
              <a:t>regimes</a:t>
            </a:r>
            <a:r>
              <a:rPr lang="en-GB" sz="2800" dirty="0">
                <a:solidFill>
                  <a:schemeClr val="bg1"/>
                </a:solidFill>
              </a:rPr>
              <a:t>, with momentum and volatility driving behaviour, but these signals </a:t>
            </a:r>
            <a:r>
              <a:rPr lang="en-GB" sz="2800" b="1" dirty="0">
                <a:solidFill>
                  <a:schemeClr val="bg1"/>
                </a:solidFill>
              </a:rPr>
              <a:t>react to price changes rather than anticipate them</a:t>
            </a:r>
            <a:r>
              <a:rPr lang="en-GB" sz="2800" dirty="0">
                <a:solidFill>
                  <a:schemeClr val="bg1"/>
                </a:solidFill>
              </a:rPr>
              <a:t>.</a:t>
            </a:r>
          </a:p>
          <a:p>
            <a:pPr marL="457200" indent="-457200">
              <a:buFont typeface="Wingdings" panose="05000000000000000000" pitchFamily="2" charset="2"/>
              <a:buChar char="§"/>
            </a:pPr>
            <a:endParaRPr lang="en-GB" sz="2800" dirty="0">
              <a:solidFill>
                <a:schemeClr val="bg1"/>
              </a:solidFill>
            </a:endParaRPr>
          </a:p>
          <a:p>
            <a:pPr marL="457200" indent="-457200">
              <a:buFont typeface="Wingdings" panose="05000000000000000000" pitchFamily="2" charset="2"/>
              <a:buChar char="§"/>
            </a:pPr>
            <a:r>
              <a:rPr lang="en-GB" sz="2800" dirty="0">
                <a:solidFill>
                  <a:schemeClr val="bg1"/>
                </a:solidFill>
              </a:rPr>
              <a:t>The Random Forest model captures </a:t>
            </a:r>
            <a:r>
              <a:rPr lang="en-GB" sz="2800" b="1" dirty="0">
                <a:solidFill>
                  <a:schemeClr val="bg1"/>
                </a:solidFill>
              </a:rPr>
              <a:t>non-linear relationships</a:t>
            </a:r>
            <a:r>
              <a:rPr lang="en-GB" sz="2800" dirty="0">
                <a:solidFill>
                  <a:schemeClr val="bg1"/>
                </a:solidFill>
              </a:rPr>
              <a:t> and improves prediction </a:t>
            </a:r>
            <a:r>
              <a:rPr lang="en-GB" sz="2800" b="1" dirty="0">
                <a:solidFill>
                  <a:schemeClr val="bg1"/>
                </a:solidFill>
              </a:rPr>
              <a:t>stability</a:t>
            </a:r>
            <a:r>
              <a:rPr lang="en-GB" sz="2800" dirty="0">
                <a:solidFill>
                  <a:schemeClr val="bg1"/>
                </a:solidFill>
              </a:rPr>
              <a:t>, but it does </a:t>
            </a:r>
            <a:r>
              <a:rPr lang="en-GB" sz="2800" b="1" dirty="0">
                <a:solidFill>
                  <a:schemeClr val="bg1"/>
                </a:solidFill>
              </a:rPr>
              <a:t>not materially increase accuracy</a:t>
            </a:r>
            <a:r>
              <a:rPr lang="en-GB" sz="2800" dirty="0">
                <a:solidFill>
                  <a:schemeClr val="bg1"/>
                </a:solidFill>
              </a:rPr>
              <a:t>, highlighting the limits of technical signals in noisy markets.</a:t>
            </a:r>
          </a:p>
          <a:p>
            <a:pPr marL="457200" indent="-457200">
              <a:buFont typeface="Wingdings" panose="05000000000000000000" pitchFamily="2" charset="2"/>
              <a:buChar char="§"/>
            </a:pPr>
            <a:endParaRPr lang="en-GB" sz="2800" dirty="0">
              <a:solidFill>
                <a:schemeClr val="bg1"/>
              </a:solidFill>
            </a:endParaRPr>
          </a:p>
          <a:p>
            <a:pPr marL="457200" indent="-457200">
              <a:buFont typeface="Wingdings" panose="05000000000000000000" pitchFamily="2" charset="2"/>
              <a:buChar char="§"/>
            </a:pPr>
            <a:r>
              <a:rPr lang="en-GB" sz="2800" dirty="0">
                <a:solidFill>
                  <a:schemeClr val="bg1"/>
                </a:solidFill>
              </a:rPr>
              <a:t>Overall, the model is </a:t>
            </a:r>
            <a:r>
              <a:rPr lang="en-GB" sz="2800" b="1" dirty="0">
                <a:solidFill>
                  <a:schemeClr val="bg1"/>
                </a:solidFill>
              </a:rPr>
              <a:t>most effective as a decision-support tool </a:t>
            </a:r>
            <a:r>
              <a:rPr lang="en-GB" sz="2800" dirty="0">
                <a:solidFill>
                  <a:schemeClr val="bg1"/>
                </a:solidFill>
              </a:rPr>
              <a:t>helping confirm trend direction and manage risk rather than as a price-forecasting system.</a:t>
            </a:r>
          </a:p>
        </p:txBody>
      </p:sp>
      <p:sp>
        <p:nvSpPr>
          <p:cNvPr id="12" name="TextBox 12"/>
          <p:cNvSpPr txBox="1"/>
          <p:nvPr/>
        </p:nvSpPr>
        <p:spPr>
          <a:xfrm>
            <a:off x="1274003" y="425674"/>
            <a:ext cx="2501192" cy="701609"/>
          </a:xfrm>
          <a:prstGeom prst="rect">
            <a:avLst/>
          </a:prstGeom>
        </p:spPr>
        <p:txBody>
          <a:bodyPr lIns="0" tIns="0" rIns="0" bIns="0" rtlCol="0" anchor="t">
            <a:spAutoFit/>
          </a:bodyPr>
          <a:lstStyle/>
          <a:p>
            <a:pPr>
              <a:lnSpc>
                <a:spcPts val="2800"/>
              </a:lnSpc>
            </a:pPr>
            <a:r>
              <a:rPr lang="en-US" sz="2000" dirty="0">
                <a:solidFill>
                  <a:srgbClr val="FFFFFF"/>
                </a:solidFill>
                <a:latin typeface="Inter"/>
                <a:ea typeface="Inter"/>
                <a:cs typeface="Inter"/>
                <a:sym typeface="Inter"/>
              </a:rPr>
              <a:t>Global Investment Partners.</a:t>
            </a:r>
          </a:p>
        </p:txBody>
      </p:sp>
      <p:sp>
        <p:nvSpPr>
          <p:cNvPr id="19" name="Freeform 19"/>
          <p:cNvSpPr/>
          <p:nvPr/>
        </p:nvSpPr>
        <p:spPr>
          <a:xfrm>
            <a:off x="16965837" y="809416"/>
            <a:ext cx="586926" cy="654785"/>
          </a:xfrm>
          <a:custGeom>
            <a:avLst/>
            <a:gdLst/>
            <a:ahLst/>
            <a:cxnLst/>
            <a:rect l="l" t="t" r="r" b="b"/>
            <a:pathLst>
              <a:path w="586926" h="654785">
                <a:moveTo>
                  <a:pt x="0" y="0"/>
                </a:moveTo>
                <a:lnTo>
                  <a:pt x="586926" y="0"/>
                </a:lnTo>
                <a:lnTo>
                  <a:pt x="586926" y="654785"/>
                </a:lnTo>
                <a:lnTo>
                  <a:pt x="0" y="65478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6172200" y="1136808"/>
            <a:ext cx="7278386" cy="923330"/>
          </a:xfrm>
          <a:prstGeom prst="rect">
            <a:avLst/>
          </a:prstGeom>
        </p:spPr>
        <p:txBody>
          <a:bodyPr lIns="0" tIns="0" rIns="0" bIns="0" rtlCol="0" anchor="t">
            <a:spAutoFit/>
          </a:bodyPr>
          <a:lstStyle/>
          <a:p>
            <a:pPr algn="l">
              <a:lnSpc>
                <a:spcPts val="7150"/>
              </a:lnSpc>
            </a:pPr>
            <a:r>
              <a:rPr lang="en-US" sz="6500" b="1" dirty="0">
                <a:solidFill>
                  <a:srgbClr val="000000"/>
                </a:solidFill>
                <a:latin typeface="Gotham Bold"/>
                <a:ea typeface="Gotham Bold"/>
                <a:cs typeface="Gotham Bold"/>
                <a:sym typeface="Gotham Bold"/>
              </a:rPr>
              <a:t>Limitations</a:t>
            </a:r>
          </a:p>
        </p:txBody>
      </p:sp>
      <p:sp>
        <p:nvSpPr>
          <p:cNvPr id="13" name="TextBox 13"/>
          <p:cNvSpPr txBox="1"/>
          <p:nvPr/>
        </p:nvSpPr>
        <p:spPr>
          <a:xfrm>
            <a:off x="1274003" y="2781300"/>
            <a:ext cx="12725400" cy="5170646"/>
          </a:xfrm>
          <a:prstGeom prst="rect">
            <a:avLst/>
          </a:prstGeom>
        </p:spPr>
        <p:txBody>
          <a:bodyPr wrap="square" lIns="0" tIns="0" rIns="0" bIns="0" rtlCol="0" anchor="t">
            <a:spAutoFit/>
          </a:bodyPr>
          <a:lstStyle/>
          <a:p>
            <a:pPr marL="457200" indent="-457200">
              <a:buFont typeface="Wingdings" panose="05000000000000000000" pitchFamily="2" charset="2"/>
              <a:buChar char="§"/>
            </a:pPr>
            <a:r>
              <a:rPr lang="en-GB" sz="2800" dirty="0"/>
              <a:t>No macroeconomic indicators included. Analysis only rely on </a:t>
            </a:r>
            <a:r>
              <a:rPr lang="en-GB" sz="2800" b="1" dirty="0"/>
              <a:t>price, volume, momentum, volatility, calendar, and lagged trend features only</a:t>
            </a:r>
            <a:r>
              <a:rPr lang="en-GB" sz="2800" dirty="0"/>
              <a:t>. Variables such as interest rates, inflation, GDP, or policy signals, which often explain large market moves are not captured in the model.</a:t>
            </a:r>
          </a:p>
          <a:p>
            <a:pPr marL="457200" indent="-457200">
              <a:buFont typeface="Wingdings" panose="05000000000000000000" pitchFamily="2" charset="2"/>
              <a:buChar char="§"/>
            </a:pPr>
            <a:endParaRPr lang="en-GB" sz="2800" dirty="0"/>
          </a:p>
          <a:p>
            <a:pPr marL="457200" indent="-457200">
              <a:buFont typeface="Wingdings" panose="05000000000000000000" pitchFamily="2" charset="2"/>
              <a:buChar char="§"/>
            </a:pPr>
            <a:r>
              <a:rPr lang="en-GB" sz="2800" dirty="0"/>
              <a:t>Technical indicators alone are weak predictors as RSI, MACD, and moving averages mostly </a:t>
            </a:r>
            <a:r>
              <a:rPr lang="en-GB" sz="2800" b="1" dirty="0"/>
              <a:t>react to price movements</a:t>
            </a:r>
            <a:r>
              <a:rPr lang="en-GB" sz="2800" dirty="0"/>
              <a:t> rather than predict them, which limits achievable accuracy.</a:t>
            </a:r>
          </a:p>
          <a:p>
            <a:pPr marL="457200" indent="-457200">
              <a:buFont typeface="Wingdings" panose="05000000000000000000" pitchFamily="2" charset="2"/>
              <a:buChar char="§"/>
            </a:pPr>
            <a:endParaRPr lang="en-GB" sz="2800" dirty="0"/>
          </a:p>
          <a:p>
            <a:pPr marL="457200" indent="-457200">
              <a:buFont typeface="Wingdings" panose="05000000000000000000" pitchFamily="2" charset="2"/>
              <a:buChar char="§"/>
            </a:pPr>
            <a:r>
              <a:rPr lang="en-GB" sz="2800" dirty="0"/>
              <a:t>Short prediction horizon limits foresight. Trend labels and lag structure focus on </a:t>
            </a:r>
            <a:r>
              <a:rPr lang="en-GB" sz="2800" b="1" dirty="0"/>
              <a:t>near-term market direction</a:t>
            </a:r>
            <a:r>
              <a:rPr lang="en-GB" sz="2800" dirty="0"/>
              <a:t>. This makes the model effective for </a:t>
            </a:r>
            <a:r>
              <a:rPr lang="en-GB" sz="2800" b="1" dirty="0"/>
              <a:t>confirming current trends</a:t>
            </a:r>
            <a:r>
              <a:rPr lang="en-GB" sz="2800" dirty="0"/>
              <a:t>, but not for long-term forecasting.</a:t>
            </a:r>
          </a:p>
        </p:txBody>
      </p:sp>
      <p:sp>
        <p:nvSpPr>
          <p:cNvPr id="15" name="Freeform 15"/>
          <p:cNvSpPr/>
          <p:nvPr/>
        </p:nvSpPr>
        <p:spPr>
          <a:xfrm>
            <a:off x="544417" y="540492"/>
            <a:ext cx="493452" cy="596316"/>
          </a:xfrm>
          <a:custGeom>
            <a:avLst/>
            <a:gdLst/>
            <a:ahLst/>
            <a:cxnLst/>
            <a:rect l="l" t="t" r="r" b="b"/>
            <a:pathLst>
              <a:path w="493452" h="596316">
                <a:moveTo>
                  <a:pt x="0" y="0"/>
                </a:moveTo>
                <a:lnTo>
                  <a:pt x="493451" y="0"/>
                </a:lnTo>
                <a:lnTo>
                  <a:pt x="493451" y="596316"/>
                </a:lnTo>
                <a:lnTo>
                  <a:pt x="0" y="596316"/>
                </a:lnTo>
                <a:lnTo>
                  <a:pt x="0" y="0"/>
                </a:lnTo>
                <a:close/>
              </a:path>
            </a:pathLst>
          </a:custGeom>
          <a:blipFill>
            <a:blip r:embed="rId2"/>
            <a:stretch>
              <a:fillRect/>
            </a:stretch>
          </a:blipFill>
        </p:spPr>
        <p:txBody>
          <a:bodyPr/>
          <a:lstStyle/>
          <a:p>
            <a:endParaRPr lang="en-GB"/>
          </a:p>
        </p:txBody>
      </p:sp>
      <p:sp>
        <p:nvSpPr>
          <p:cNvPr id="16" name="TextBox 16"/>
          <p:cNvSpPr txBox="1"/>
          <p:nvPr/>
        </p:nvSpPr>
        <p:spPr>
          <a:xfrm>
            <a:off x="1274003" y="425674"/>
            <a:ext cx="2501192" cy="701609"/>
          </a:xfrm>
          <a:prstGeom prst="rect">
            <a:avLst/>
          </a:prstGeom>
        </p:spPr>
        <p:txBody>
          <a:bodyPr lIns="0" tIns="0" rIns="0" bIns="0" rtlCol="0" anchor="t">
            <a:spAutoFit/>
          </a:bodyPr>
          <a:lstStyle/>
          <a:p>
            <a:pPr>
              <a:lnSpc>
                <a:spcPts val="2800"/>
              </a:lnSpc>
            </a:pPr>
            <a:r>
              <a:rPr lang="en-US" sz="2000" dirty="0">
                <a:latin typeface="Inter"/>
                <a:ea typeface="Inter"/>
                <a:cs typeface="Inter"/>
                <a:sym typeface="Inter"/>
              </a:rPr>
              <a:t>Global Investment Partners.</a:t>
            </a:r>
          </a:p>
        </p:txBody>
      </p:sp>
      <p:sp>
        <p:nvSpPr>
          <p:cNvPr id="17" name="Freeform 17"/>
          <p:cNvSpPr/>
          <p:nvPr/>
        </p:nvSpPr>
        <p:spPr>
          <a:xfrm>
            <a:off x="16965837" y="809416"/>
            <a:ext cx="586926" cy="654785"/>
          </a:xfrm>
          <a:custGeom>
            <a:avLst/>
            <a:gdLst/>
            <a:ahLst/>
            <a:cxnLst/>
            <a:rect l="l" t="t" r="r" b="b"/>
            <a:pathLst>
              <a:path w="586926" h="654785">
                <a:moveTo>
                  <a:pt x="0" y="0"/>
                </a:moveTo>
                <a:lnTo>
                  <a:pt x="586926" y="0"/>
                </a:lnTo>
                <a:lnTo>
                  <a:pt x="586926" y="654785"/>
                </a:lnTo>
                <a:lnTo>
                  <a:pt x="0" y="65478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34088" t="-17044" b="-17044"/>
            </a:stretch>
          </a:blipFill>
        </p:spPr>
        <p:txBody>
          <a:bodyPr/>
          <a:lstStyle/>
          <a:p>
            <a:endParaRPr lang="en-GB"/>
          </a:p>
        </p:txBody>
      </p:sp>
      <p:sp>
        <p:nvSpPr>
          <p:cNvPr id="6" name="Freeform 6"/>
          <p:cNvSpPr/>
          <p:nvPr/>
        </p:nvSpPr>
        <p:spPr>
          <a:xfrm>
            <a:off x="544417" y="540492"/>
            <a:ext cx="493452" cy="596316"/>
          </a:xfrm>
          <a:custGeom>
            <a:avLst/>
            <a:gdLst/>
            <a:ahLst/>
            <a:cxnLst/>
            <a:rect l="l" t="t" r="r" b="b"/>
            <a:pathLst>
              <a:path w="493452" h="596316">
                <a:moveTo>
                  <a:pt x="0" y="0"/>
                </a:moveTo>
                <a:lnTo>
                  <a:pt x="493451" y="0"/>
                </a:lnTo>
                <a:lnTo>
                  <a:pt x="493451" y="596316"/>
                </a:lnTo>
                <a:lnTo>
                  <a:pt x="0" y="596316"/>
                </a:lnTo>
                <a:lnTo>
                  <a:pt x="0" y="0"/>
                </a:lnTo>
                <a:close/>
              </a:path>
            </a:pathLst>
          </a:custGeom>
          <a:blipFill>
            <a:blip r:embed="rId3"/>
            <a:stretch>
              <a:fillRect/>
            </a:stretch>
          </a:blipFill>
        </p:spPr>
        <p:txBody>
          <a:bodyPr/>
          <a:lstStyle/>
          <a:p>
            <a:endParaRPr lang="en-GB"/>
          </a:p>
        </p:txBody>
      </p:sp>
      <p:sp>
        <p:nvSpPr>
          <p:cNvPr id="7" name="Freeform 7"/>
          <p:cNvSpPr/>
          <p:nvPr/>
        </p:nvSpPr>
        <p:spPr>
          <a:xfrm>
            <a:off x="16965837" y="809416"/>
            <a:ext cx="586926" cy="654785"/>
          </a:xfrm>
          <a:custGeom>
            <a:avLst/>
            <a:gdLst/>
            <a:ahLst/>
            <a:cxnLst/>
            <a:rect l="l" t="t" r="r" b="b"/>
            <a:pathLst>
              <a:path w="586926" h="654785">
                <a:moveTo>
                  <a:pt x="0" y="0"/>
                </a:moveTo>
                <a:lnTo>
                  <a:pt x="586926" y="0"/>
                </a:lnTo>
                <a:lnTo>
                  <a:pt x="586926" y="654785"/>
                </a:lnTo>
                <a:lnTo>
                  <a:pt x="0" y="65478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9" name="TextBox 9"/>
          <p:cNvSpPr txBox="1"/>
          <p:nvPr/>
        </p:nvSpPr>
        <p:spPr>
          <a:xfrm>
            <a:off x="4038600" y="1211049"/>
            <a:ext cx="11620500" cy="923330"/>
          </a:xfrm>
          <a:prstGeom prst="rect">
            <a:avLst/>
          </a:prstGeom>
        </p:spPr>
        <p:txBody>
          <a:bodyPr wrap="square" lIns="0" tIns="0" rIns="0" bIns="0" rtlCol="0" anchor="t">
            <a:spAutoFit/>
          </a:bodyPr>
          <a:lstStyle/>
          <a:p>
            <a:pPr algn="l">
              <a:lnSpc>
                <a:spcPts val="7150"/>
              </a:lnSpc>
            </a:pPr>
            <a:r>
              <a:rPr lang="en-US" sz="6500" b="1" dirty="0">
                <a:solidFill>
                  <a:srgbClr val="000000"/>
                </a:solidFill>
                <a:latin typeface="Gotham Bold"/>
                <a:ea typeface="Gotham Bold"/>
                <a:cs typeface="Gotham Bold"/>
                <a:sym typeface="Gotham Bold"/>
              </a:rPr>
              <a:t>Recommended Next Step</a:t>
            </a:r>
          </a:p>
        </p:txBody>
      </p:sp>
      <p:sp>
        <p:nvSpPr>
          <p:cNvPr id="10" name="TextBox 10"/>
          <p:cNvSpPr txBox="1"/>
          <p:nvPr/>
        </p:nvSpPr>
        <p:spPr>
          <a:xfrm>
            <a:off x="1037869" y="2933700"/>
            <a:ext cx="12220931" cy="3814699"/>
          </a:xfrm>
          <a:prstGeom prst="rect">
            <a:avLst/>
          </a:prstGeom>
        </p:spPr>
        <p:txBody>
          <a:bodyPr wrap="square" lIns="0" tIns="0" rIns="0" bIns="0" rtlCol="0" anchor="t">
            <a:spAutoFit/>
          </a:bodyPr>
          <a:lstStyle/>
          <a:p>
            <a:pPr marL="457200" indent="-457200">
              <a:lnSpc>
                <a:spcPts val="2660"/>
              </a:lnSpc>
              <a:buFont typeface="Wingdings" panose="05000000000000000000" pitchFamily="2" charset="2"/>
              <a:buChar char="§"/>
            </a:pPr>
            <a:r>
              <a:rPr lang="en-GB" sz="2800" dirty="0"/>
              <a:t>Use price change and market condition signals that reflect how fast prices are changing and whether the market is stable or volatile.</a:t>
            </a:r>
          </a:p>
          <a:p>
            <a:pPr marL="457200" indent="-457200">
              <a:lnSpc>
                <a:spcPts val="2660"/>
              </a:lnSpc>
              <a:buFont typeface="Wingdings" panose="05000000000000000000" pitchFamily="2" charset="2"/>
              <a:buChar char="§"/>
            </a:pPr>
            <a:endParaRPr lang="en-GB" sz="2800" dirty="0">
              <a:solidFill>
                <a:srgbClr val="737373"/>
              </a:solidFill>
              <a:latin typeface="Inter"/>
              <a:ea typeface="Inter"/>
              <a:cs typeface="Inter"/>
              <a:sym typeface="Inter"/>
            </a:endParaRPr>
          </a:p>
          <a:p>
            <a:pPr marL="457200" indent="-457200">
              <a:lnSpc>
                <a:spcPts val="2660"/>
              </a:lnSpc>
              <a:buFont typeface="Wingdings" panose="05000000000000000000" pitchFamily="2" charset="2"/>
              <a:buChar char="§"/>
            </a:pPr>
            <a:r>
              <a:rPr lang="en-GB" sz="2800" dirty="0"/>
              <a:t>Identify different market conditions such as trending, sideways, or unstable before making decisions.</a:t>
            </a:r>
          </a:p>
          <a:p>
            <a:pPr marL="457200" indent="-457200">
              <a:lnSpc>
                <a:spcPts val="2660"/>
              </a:lnSpc>
              <a:buFont typeface="Wingdings" panose="05000000000000000000" pitchFamily="2" charset="2"/>
              <a:buChar char="§"/>
            </a:pPr>
            <a:endParaRPr lang="en-GB" sz="2800" dirty="0">
              <a:solidFill>
                <a:srgbClr val="737373"/>
              </a:solidFill>
              <a:latin typeface="Inter"/>
              <a:ea typeface="Inter"/>
              <a:cs typeface="Inter"/>
              <a:sym typeface="Inter"/>
            </a:endParaRPr>
          </a:p>
          <a:p>
            <a:pPr marL="457200" indent="-457200">
              <a:lnSpc>
                <a:spcPts val="2660"/>
              </a:lnSpc>
              <a:buFont typeface="Wingdings" panose="05000000000000000000" pitchFamily="2" charset="2"/>
              <a:buChar char="§"/>
            </a:pPr>
            <a:r>
              <a:rPr lang="en-GB" sz="2800" dirty="0"/>
              <a:t>Use a more refined learning method like Gradient Boosting / </a:t>
            </a:r>
            <a:r>
              <a:rPr lang="en-GB" sz="2800" dirty="0" err="1"/>
              <a:t>XGBoost</a:t>
            </a:r>
            <a:r>
              <a:rPr lang="en-GB" sz="2800" dirty="0"/>
              <a:t>  that focuses on improving weak predictions.</a:t>
            </a:r>
          </a:p>
          <a:p>
            <a:pPr marL="457200" indent="-457200">
              <a:lnSpc>
                <a:spcPts val="2660"/>
              </a:lnSpc>
              <a:buFont typeface="Wingdings" panose="05000000000000000000" pitchFamily="2" charset="2"/>
              <a:buChar char="§"/>
            </a:pPr>
            <a:endParaRPr lang="en-GB" sz="2800" dirty="0">
              <a:solidFill>
                <a:srgbClr val="737373"/>
              </a:solidFill>
              <a:latin typeface="Inter"/>
              <a:ea typeface="Inter"/>
              <a:cs typeface="Inter"/>
              <a:sym typeface="Inter"/>
            </a:endParaRPr>
          </a:p>
          <a:p>
            <a:pPr marL="457200" indent="-457200">
              <a:lnSpc>
                <a:spcPts val="2660"/>
              </a:lnSpc>
              <a:buFont typeface="Wingdings" panose="05000000000000000000" pitchFamily="2" charset="2"/>
              <a:buChar char="§"/>
            </a:pPr>
            <a:r>
              <a:rPr lang="en-GB" sz="2800" dirty="0"/>
              <a:t>Use models designed such as Long Short-Term Memory </a:t>
            </a:r>
            <a:r>
              <a:rPr lang="en-GB" sz="2800"/>
              <a:t>(LSTM) </a:t>
            </a:r>
            <a:r>
              <a:rPr lang="en-GB" sz="2800" dirty="0"/>
              <a:t>model to understand how recent market behaviour affects future movement.</a:t>
            </a:r>
            <a:endParaRPr lang="en-US" sz="2800" dirty="0">
              <a:solidFill>
                <a:srgbClr val="737373"/>
              </a:solidFill>
              <a:latin typeface="Inter"/>
              <a:ea typeface="Inter"/>
              <a:cs typeface="Inter"/>
              <a:sym typeface="Inter"/>
            </a:endParaRPr>
          </a:p>
        </p:txBody>
      </p:sp>
      <p:sp>
        <p:nvSpPr>
          <p:cNvPr id="12" name="TextBox 12"/>
          <p:cNvSpPr txBox="1"/>
          <p:nvPr/>
        </p:nvSpPr>
        <p:spPr>
          <a:xfrm>
            <a:off x="1274003" y="425674"/>
            <a:ext cx="2501192" cy="701609"/>
          </a:xfrm>
          <a:prstGeom prst="rect">
            <a:avLst/>
          </a:prstGeom>
        </p:spPr>
        <p:txBody>
          <a:bodyPr lIns="0" tIns="0" rIns="0" bIns="0" rtlCol="0" anchor="t">
            <a:spAutoFit/>
          </a:bodyPr>
          <a:lstStyle/>
          <a:p>
            <a:pPr>
              <a:lnSpc>
                <a:spcPts val="2800"/>
              </a:lnSpc>
            </a:pPr>
            <a:r>
              <a:rPr lang="en-US" sz="2000" dirty="0">
                <a:latin typeface="Inter"/>
                <a:ea typeface="Inter"/>
                <a:cs typeface="Inter"/>
                <a:sym typeface="Inter"/>
              </a:rPr>
              <a:t>Global Investment Partners.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905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GB"/>
          </a:p>
        </p:txBody>
      </p:sp>
      <p:grpSp>
        <p:nvGrpSpPr>
          <p:cNvPr id="6" name="Group 6"/>
          <p:cNvGrpSpPr/>
          <p:nvPr/>
        </p:nvGrpSpPr>
        <p:grpSpPr>
          <a:xfrm>
            <a:off x="1865614" y="6972300"/>
            <a:ext cx="4587994" cy="925976"/>
            <a:chOff x="0" y="0"/>
            <a:chExt cx="1422181" cy="196229"/>
          </a:xfrm>
        </p:grpSpPr>
        <p:sp>
          <p:nvSpPr>
            <p:cNvPr id="7" name="Freeform 7"/>
            <p:cNvSpPr/>
            <p:nvPr/>
          </p:nvSpPr>
          <p:spPr>
            <a:xfrm>
              <a:off x="0" y="0"/>
              <a:ext cx="1422181" cy="196229"/>
            </a:xfrm>
            <a:custGeom>
              <a:avLst/>
              <a:gdLst/>
              <a:ahLst/>
              <a:cxnLst/>
              <a:rect l="l" t="t" r="r" b="b"/>
              <a:pathLst>
                <a:path w="1422181" h="196229">
                  <a:moveTo>
                    <a:pt x="0" y="0"/>
                  </a:moveTo>
                  <a:lnTo>
                    <a:pt x="1422181" y="0"/>
                  </a:lnTo>
                  <a:lnTo>
                    <a:pt x="1422181" y="196229"/>
                  </a:lnTo>
                  <a:lnTo>
                    <a:pt x="0" y="196229"/>
                  </a:lnTo>
                  <a:close/>
                </a:path>
              </a:pathLst>
            </a:custGeom>
            <a:solidFill>
              <a:srgbClr val="33CC33"/>
            </a:solidFill>
          </p:spPr>
          <p:txBody>
            <a:bodyPr/>
            <a:lstStyle/>
            <a:p>
              <a:endParaRPr lang="en-GB"/>
            </a:p>
          </p:txBody>
        </p:sp>
        <p:sp>
          <p:nvSpPr>
            <p:cNvPr id="8" name="TextBox 8"/>
            <p:cNvSpPr txBox="1"/>
            <p:nvPr/>
          </p:nvSpPr>
          <p:spPr>
            <a:xfrm>
              <a:off x="0" y="19050"/>
              <a:ext cx="1422181" cy="177179"/>
            </a:xfrm>
            <a:prstGeom prst="rect">
              <a:avLst/>
            </a:prstGeom>
          </p:spPr>
          <p:txBody>
            <a:bodyPr lIns="50800" tIns="50800" rIns="50800" bIns="50800" rtlCol="0" anchor="ctr"/>
            <a:lstStyle/>
            <a:p>
              <a:pPr algn="ctr">
                <a:lnSpc>
                  <a:spcPts val="2750"/>
                </a:lnSpc>
              </a:pPr>
              <a:endParaRPr/>
            </a:p>
          </p:txBody>
        </p:sp>
      </p:grpSp>
      <p:sp>
        <p:nvSpPr>
          <p:cNvPr id="15" name="TextBox 15"/>
          <p:cNvSpPr txBox="1"/>
          <p:nvPr/>
        </p:nvSpPr>
        <p:spPr>
          <a:xfrm>
            <a:off x="1865614" y="1914664"/>
            <a:ext cx="10707386" cy="1107996"/>
          </a:xfrm>
          <a:prstGeom prst="rect">
            <a:avLst/>
          </a:prstGeom>
        </p:spPr>
        <p:txBody>
          <a:bodyPr wrap="square" lIns="0" tIns="0" rIns="0" bIns="0" rtlCol="0" anchor="t">
            <a:spAutoFit/>
          </a:bodyPr>
          <a:lstStyle/>
          <a:p>
            <a:r>
              <a:rPr lang="en-GB" sz="3600" b="1" dirty="0">
                <a:solidFill>
                  <a:schemeClr val="bg1"/>
                </a:solidFill>
              </a:rPr>
              <a:t>This project shows the limits of technical indicators in isolation.</a:t>
            </a:r>
          </a:p>
        </p:txBody>
      </p:sp>
      <p:sp>
        <p:nvSpPr>
          <p:cNvPr id="16" name="TextBox 16"/>
          <p:cNvSpPr txBox="1"/>
          <p:nvPr/>
        </p:nvSpPr>
        <p:spPr>
          <a:xfrm>
            <a:off x="1865614" y="4505913"/>
            <a:ext cx="5982986" cy="365613"/>
          </a:xfrm>
          <a:prstGeom prst="rect">
            <a:avLst/>
          </a:prstGeom>
        </p:spPr>
        <p:txBody>
          <a:bodyPr wrap="square" lIns="0" tIns="0" rIns="0" bIns="0" rtlCol="0" anchor="t">
            <a:spAutoFit/>
          </a:bodyPr>
          <a:lstStyle/>
          <a:p>
            <a:pPr algn="l">
              <a:lnSpc>
                <a:spcPts val="2660"/>
              </a:lnSpc>
            </a:pPr>
            <a:r>
              <a:rPr lang="en-US" sz="3200" dirty="0">
                <a:solidFill>
                  <a:srgbClr val="FFFFFF"/>
                </a:solidFill>
                <a:latin typeface="Canva Sans"/>
                <a:ea typeface="Canva Sans"/>
                <a:cs typeface="Canva Sans"/>
                <a:sym typeface="Canva Sans"/>
              </a:rPr>
              <a:t>Thank you for your attention</a:t>
            </a:r>
          </a:p>
        </p:txBody>
      </p:sp>
      <p:sp>
        <p:nvSpPr>
          <p:cNvPr id="18" name="TextBox 18"/>
          <p:cNvSpPr txBox="1"/>
          <p:nvPr/>
        </p:nvSpPr>
        <p:spPr>
          <a:xfrm>
            <a:off x="1956523" y="7240280"/>
            <a:ext cx="4587993" cy="367793"/>
          </a:xfrm>
          <a:prstGeom prst="rect">
            <a:avLst/>
          </a:prstGeom>
        </p:spPr>
        <p:txBody>
          <a:bodyPr wrap="square" lIns="0" tIns="0" rIns="0" bIns="0" rtlCol="0" anchor="t">
            <a:spAutoFit/>
          </a:bodyPr>
          <a:lstStyle/>
          <a:p>
            <a:pPr algn="l">
              <a:lnSpc>
                <a:spcPts val="2750"/>
              </a:lnSpc>
            </a:pPr>
            <a:r>
              <a:rPr lang="en-US" sz="3200" b="1" dirty="0">
                <a:solidFill>
                  <a:srgbClr val="FFFFFF"/>
                </a:solidFill>
                <a:latin typeface="Gotham Bold"/>
                <a:ea typeface="Gotham Bold"/>
                <a:cs typeface="Gotham Bold"/>
                <a:sym typeface="Gotham Bold"/>
              </a:rPr>
              <a:t>Any Question Please?</a:t>
            </a:r>
          </a:p>
        </p:txBody>
      </p:sp>
      <p:sp>
        <p:nvSpPr>
          <p:cNvPr id="20" name="Freeform 20"/>
          <p:cNvSpPr/>
          <p:nvPr/>
        </p:nvSpPr>
        <p:spPr>
          <a:xfrm>
            <a:off x="716194" y="764138"/>
            <a:ext cx="493452" cy="596316"/>
          </a:xfrm>
          <a:custGeom>
            <a:avLst/>
            <a:gdLst/>
            <a:ahLst/>
            <a:cxnLst/>
            <a:rect l="l" t="t" r="r" b="b"/>
            <a:pathLst>
              <a:path w="493452" h="596316">
                <a:moveTo>
                  <a:pt x="0" y="0"/>
                </a:moveTo>
                <a:lnTo>
                  <a:pt x="493452" y="0"/>
                </a:lnTo>
                <a:lnTo>
                  <a:pt x="493452" y="596316"/>
                </a:lnTo>
                <a:lnTo>
                  <a:pt x="0" y="596316"/>
                </a:lnTo>
                <a:lnTo>
                  <a:pt x="0" y="0"/>
                </a:lnTo>
                <a:close/>
              </a:path>
            </a:pathLst>
          </a:custGeom>
          <a:blipFill>
            <a:blip r:embed="rId3"/>
            <a:stretch>
              <a:fillRect/>
            </a:stretch>
          </a:blipFill>
        </p:spPr>
        <p:txBody>
          <a:bodyPr/>
          <a:lstStyle/>
          <a:p>
            <a:endParaRPr lang="en-GB"/>
          </a:p>
        </p:txBody>
      </p:sp>
      <p:sp>
        <p:nvSpPr>
          <p:cNvPr id="21" name="TextBox 21"/>
          <p:cNvSpPr txBox="1"/>
          <p:nvPr/>
        </p:nvSpPr>
        <p:spPr>
          <a:xfrm>
            <a:off x="1445780" y="649321"/>
            <a:ext cx="2501192" cy="688715"/>
          </a:xfrm>
          <a:prstGeom prst="rect">
            <a:avLst/>
          </a:prstGeom>
        </p:spPr>
        <p:txBody>
          <a:bodyPr lIns="0" tIns="0" rIns="0" bIns="0" rtlCol="0" anchor="t">
            <a:spAutoFit/>
          </a:bodyPr>
          <a:lstStyle/>
          <a:p>
            <a:pPr algn="l">
              <a:lnSpc>
                <a:spcPts val="2800"/>
              </a:lnSpc>
            </a:pPr>
            <a:r>
              <a:rPr lang="en-US" sz="2000" dirty="0">
                <a:solidFill>
                  <a:srgbClr val="FFFFFF"/>
                </a:solidFill>
                <a:latin typeface="Inter"/>
                <a:ea typeface="Inter"/>
                <a:cs typeface="Inter"/>
                <a:sym typeface="Inter"/>
              </a:rPr>
              <a:t>Global Investment Partners.</a:t>
            </a:r>
          </a:p>
        </p:txBody>
      </p:sp>
      <p:sp>
        <p:nvSpPr>
          <p:cNvPr id="22" name="Freeform 22"/>
          <p:cNvSpPr/>
          <p:nvPr/>
        </p:nvSpPr>
        <p:spPr>
          <a:xfrm>
            <a:off x="16965837" y="809416"/>
            <a:ext cx="586926" cy="654785"/>
          </a:xfrm>
          <a:custGeom>
            <a:avLst/>
            <a:gdLst/>
            <a:ahLst/>
            <a:cxnLst/>
            <a:rect l="l" t="t" r="r" b="b"/>
            <a:pathLst>
              <a:path w="586926" h="654785">
                <a:moveTo>
                  <a:pt x="0" y="0"/>
                </a:moveTo>
                <a:lnTo>
                  <a:pt x="586926" y="0"/>
                </a:lnTo>
                <a:lnTo>
                  <a:pt x="586926" y="654785"/>
                </a:lnTo>
                <a:lnTo>
                  <a:pt x="0" y="65478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1013</TotalTime>
  <Words>811</Words>
  <Application>Microsoft Office PowerPoint</Application>
  <PresentationFormat>Custom</PresentationFormat>
  <Paragraphs>64</Paragraphs>
  <Slides>10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Inter Bold</vt:lpstr>
      <vt:lpstr>Wingdings</vt:lpstr>
      <vt:lpstr>Inter</vt:lpstr>
      <vt:lpstr>Calibri</vt:lpstr>
      <vt:lpstr>Canva Sans</vt:lpstr>
      <vt:lpstr>Gotham Bold</vt:lpstr>
      <vt:lpstr>Gotham Heavy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Red and White Modern Stock Market Investing Presentation</dc:title>
  <dc:creator>Admin</dc:creator>
  <cp:lastModifiedBy>Muinat Tijani</cp:lastModifiedBy>
  <cp:revision>2</cp:revision>
  <dcterms:created xsi:type="dcterms:W3CDTF">2006-08-16T00:00:00Z</dcterms:created>
  <dcterms:modified xsi:type="dcterms:W3CDTF">2025-12-13T19:17:41Z</dcterms:modified>
  <dc:identifier>DAG60ooLS8Y</dc:identifier>
</cp:coreProperties>
</file>